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5" r:id="rId14"/>
    <p:sldId id="266" r:id="rId15"/>
    <p:sldId id="267" r:id="rId16"/>
    <p:sldId id="268" r:id="rId17"/>
    <p:sldId id="269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5" name="Google Shape;15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" name="Google Shape;32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33" name="Google Shape;33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" name="Google Shape;8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85" name="Google Shape;8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12" name="Google Shape;11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38" name="Google Shape;13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60" name="Google Shape;16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282" name="Google Shape;282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3" name="Google Shape;333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334" name="Google Shape;334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2" name="Google Shape;372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373" name="Google Shape;373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inventory-rfid.vercel.app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38150" y="457200"/>
            <a:ext cx="342900" cy="38100"/>
          </a:xfrm>
          <a:prstGeom prst="rect">
            <a:avLst/>
          </a:prstGeom>
          <a:solidFill>
            <a:srgbClr val="D8A21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876300" y="1295400"/>
            <a:ext cx="9105900" cy="9525"/>
          </a:xfrm>
          <a:prstGeom prst="rect">
            <a:avLst/>
          </a:prstGeom>
          <a:solidFill>
            <a:srgbClr val="D7DEE6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76300" y="5924550"/>
            <a:ext cx="10420350" cy="9525"/>
          </a:xfrm>
          <a:prstGeom prst="rect">
            <a:avLst/>
          </a:prstGeom>
          <a:solidFill>
            <a:srgbClr val="D7DEE6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" name="Google Shape;2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1151" y="406850"/>
            <a:ext cx="1055500" cy="133895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/>
          <p:nvPr/>
        </p:nvSpPr>
        <p:spPr>
          <a:xfrm>
            <a:off x="876300" y="914400"/>
            <a:ext cx="6858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5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Universidade Estadual de Santa Cruz - UESC</a:t>
            </a: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819150" y="2171700"/>
            <a:ext cx="9944100" cy="12001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40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Sistema de inventário baseado em tecnologia RFID para o Colegiado de Ciência da Computação</a:t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3143250" y="3943350"/>
            <a:ext cx="533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25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Ezequiel Lobo Oliveira</a:t>
            </a: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2686050" y="4610100"/>
            <a:ext cx="6286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Orientador: Jorge Lima de Oliveira Filho</a:t>
            </a: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876300" y="6153150"/>
            <a:ext cx="4476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5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Bacharelado em Ciência da Computação</a:t>
            </a: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8648700" y="6153150"/>
            <a:ext cx="2381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5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Ilhéus - Bahia,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723900" y="552450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7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Contexto do trabalho</a:t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742950" y="1200150"/>
            <a:ext cx="9334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O controle patrimonial no colegiado exige rastreabilidade entre registros administrativos e bens fisicamente encontrados.</a:t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800100" y="2400300"/>
            <a:ext cx="133350" cy="13335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1066800" y="232410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Equipamentos ficam distribuídos entre laboratórios, salas administrativas e espaços compartilhados.</a:t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800100" y="3276600"/>
            <a:ext cx="133350" cy="13335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1066800" y="320040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A conferência patrimonial precisa indicar onde o bem deveria estar e o que foi observado no ambiente.</a:t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800100" y="4152900"/>
            <a:ext cx="133350" cy="13335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066800" y="407670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Essa relação exige organização para apoiar inventário, auditoria e acompanhamento patrimonial.</a:t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6838950" y="24003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086600" y="25050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Registro administrativo</a:t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7086600" y="28098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informação esperada sobre o bem</a:t>
            </a: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6838950" y="33909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7086600" y="34956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Conferência física</a:t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7086600" y="38004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situação observada no ambiente</a:t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6838950" y="43815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7086600" y="44862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Rastreabilidade</a:t>
            </a: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7086600" y="47910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histórico para análise patrimonial</a:t>
            </a:r>
            <a:endParaRPr/>
          </a:p>
        </p:txBody>
      </p:sp>
      <p:cxnSp>
        <p:nvCxnSpPr>
          <p:cNvPr id="55" name="Google Shape;55;p4"/>
          <p:cNvCxnSpPr/>
          <p:nvPr/>
        </p:nvCxnSpPr>
        <p:spPr>
          <a:xfrm>
            <a:off x="723907" y="1792695"/>
            <a:ext cx="9253800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"/>
          <p:cNvSpPr/>
          <p:nvPr/>
        </p:nvSpPr>
        <p:spPr>
          <a:xfrm>
            <a:off x="0" y="25066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64" name="Google Shape;64;p5"/>
          <p:cNvSpPr/>
          <p:nvPr/>
        </p:nvSpPr>
        <p:spPr>
          <a:xfrm>
            <a:off x="723900" y="552450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7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Problema observado</a:t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742950" y="1200150"/>
            <a:ext cx="9334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A dificuldade central está em manter os registros patrimoniais alinhados à situação real dos bens.</a:t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800100" y="2533650"/>
            <a:ext cx="133500" cy="1335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1066800" y="245745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A conferência visual ou manual depende de verificação individual e atualização constante.</a:t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800100" y="3524250"/>
            <a:ext cx="133500" cy="1335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1066800" y="344805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Bens podem não ser localizados ou aparecer em local diferente do registrado.</a:t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895350" y="4457700"/>
            <a:ext cx="133500" cy="1335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1162050" y="4381500"/>
            <a:ext cx="4953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Sem tratamento organizado, essas divergências dificultam a conferência e a tomada de decisão patrimonial.</a:t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6838950" y="24003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7086600" y="25050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7086600" y="28098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informação administrativa do bem</a:t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6838950" y="33909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7086600" y="34956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Localização</a:t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7086600" y="38004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situação observada na conferência</a:t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6838950" y="43815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7086600" y="44862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Divergência</a:t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7086600" y="47910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diferença a ser analisada</a:t>
            </a:r>
            <a:endParaRPr/>
          </a:p>
        </p:txBody>
      </p:sp>
      <p:cxnSp>
        <p:nvCxnSpPr>
          <p:cNvPr id="81" name="Google Shape;81;p5"/>
          <p:cNvCxnSpPr/>
          <p:nvPr/>
        </p:nvCxnSpPr>
        <p:spPr>
          <a:xfrm>
            <a:off x="723907" y="1590595"/>
            <a:ext cx="9253800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723900" y="552450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7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Proposta do protótipo</a:t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742950" y="1200150"/>
            <a:ext cx="9334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O protótipo integra sistema web, API e eventos RFID para apoiar a auditoria patrimonial.</a:t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800100" y="2533650"/>
            <a:ext cx="133500" cy="1335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1066800" y="245745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Locais, leitores, bens e tags formam a base do inventário lógico.</a:t>
            </a:r>
            <a:endParaRPr/>
          </a:p>
        </p:txBody>
      </p:sp>
      <p:sp>
        <p:nvSpPr>
          <p:cNvPr id="94" name="Google Shape;94;p6"/>
          <p:cNvSpPr/>
          <p:nvPr/>
        </p:nvSpPr>
        <p:spPr>
          <a:xfrm>
            <a:off x="800100" y="3524250"/>
            <a:ext cx="133500" cy="1335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1066800" y="344805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O leitor de proximidade envia a tag ao sistema por meio de um comunicador intermediário.</a:t>
            </a:r>
            <a:endParaRPr/>
          </a:p>
        </p:txBody>
      </p:sp>
      <p:grpSp>
        <p:nvGrpSpPr>
          <p:cNvPr id="96" name="Google Shape;96;p6"/>
          <p:cNvGrpSpPr/>
          <p:nvPr/>
        </p:nvGrpSpPr>
        <p:grpSpPr>
          <a:xfrm>
            <a:off x="895350" y="4438650"/>
            <a:ext cx="5219700" cy="609600"/>
            <a:chOff x="895350" y="4438650"/>
            <a:chExt cx="5219700" cy="609600"/>
          </a:xfrm>
        </p:grpSpPr>
        <p:sp>
          <p:nvSpPr>
            <p:cNvPr id="97" name="Google Shape;97;p6"/>
            <p:cNvSpPr/>
            <p:nvPr/>
          </p:nvSpPr>
          <p:spPr>
            <a:xfrm>
              <a:off x="895350" y="4514850"/>
              <a:ext cx="133500" cy="133500"/>
            </a:xfrm>
            <a:prstGeom prst="ellipse">
              <a:avLst/>
            </a:prstGeom>
            <a:solidFill>
              <a:srgbClr val="0E7A4F"/>
            </a:solidFill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6"/>
            <p:cNvSpPr/>
            <p:nvPr/>
          </p:nvSpPr>
          <p:spPr>
            <a:xfrm>
              <a:off x="1162050" y="4438650"/>
              <a:ext cx="49530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725">
                  <a:solidFill>
                    <a:srgbClr val="17202A"/>
                  </a:solidFill>
                  <a:latin typeface="Arial"/>
                  <a:ea typeface="Arial"/>
                  <a:cs typeface="Arial"/>
                  <a:sym typeface="Arial"/>
                </a:rPr>
                <a:t>A API processa o evento e registra histórico, auditoria ou inconsistência conforme o caso.</a:t>
              </a:r>
              <a:endParaRPr/>
            </a:p>
          </p:txBody>
        </p:sp>
      </p:grpSp>
      <p:sp>
        <p:nvSpPr>
          <p:cNvPr id="99" name="Google Shape;99;p6"/>
          <p:cNvSpPr/>
          <p:nvPr/>
        </p:nvSpPr>
        <p:spPr>
          <a:xfrm>
            <a:off x="6838950" y="24003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7086600" y="25050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Sistema web</a:t>
            </a: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7086600" y="28098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cadastro e acompanhamento</a:t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6838950" y="33909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7086600" y="34956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API REST</a:t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7086600" y="38004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entrada padronizada de eventos</a:t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6838950" y="4381500"/>
            <a:ext cx="4000500" cy="723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7086600" y="4486275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RFID</a:t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7086600" y="4791075"/>
            <a:ext cx="3333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evidência física em cenário controlado</a:t>
            </a:r>
            <a:endParaRPr/>
          </a:p>
        </p:txBody>
      </p:sp>
      <p:cxnSp>
        <p:nvCxnSpPr>
          <p:cNvPr id="108" name="Google Shape;108;p6"/>
          <p:cNvCxnSpPr/>
          <p:nvPr/>
        </p:nvCxnSpPr>
        <p:spPr>
          <a:xfrm>
            <a:off x="723907" y="1561695"/>
            <a:ext cx="9253800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-25066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723900" y="552450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7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Objetivos</a:t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742950" y="1200150"/>
            <a:ext cx="9334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Objetivo geral: desenvolver e validar funcionalmente um protótipo web de inventário patrimonial baseado em RFID.</a:t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800100" y="2400300"/>
            <a:ext cx="133350" cy="13335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1066800" y="232410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Objetivos específicos</a:t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800100" y="3276600"/>
            <a:ext cx="133350" cy="13335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1066800" y="320040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Implementar cadastros, consulta, auditoria, histórico e tratamento de inconsistências.</a:t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800100" y="4152900"/>
            <a:ext cx="133350" cy="13335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1066800" y="407670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72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Projetar uma arquitetura modular para receber e processar eventos RFID.</a:t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6858000" y="2381250"/>
            <a:ext cx="3886200" cy="685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7105650" y="2476500"/>
            <a:ext cx="3143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</a:rPr>
              <a:t>Implementar</a:t>
            </a:r>
            <a:endParaRPr/>
          </a:p>
        </p:txBody>
      </p:sp>
      <p:sp>
        <p:nvSpPr>
          <p:cNvPr id="127" name="Google Shape;127;p7"/>
          <p:cNvSpPr/>
          <p:nvPr/>
        </p:nvSpPr>
        <p:spPr>
          <a:xfrm>
            <a:off x="7105650" y="2762250"/>
            <a:ext cx="3238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50">
                <a:solidFill>
                  <a:srgbClr val="51606F"/>
                </a:solidFill>
              </a:rPr>
              <a:t>cadastros e auditoria</a:t>
            </a:r>
            <a:endParaRPr/>
          </a:p>
        </p:txBody>
      </p:sp>
      <p:sp>
        <p:nvSpPr>
          <p:cNvPr id="128" name="Google Shape;128;p7"/>
          <p:cNvSpPr/>
          <p:nvPr/>
        </p:nvSpPr>
        <p:spPr>
          <a:xfrm>
            <a:off x="6858000" y="3448050"/>
            <a:ext cx="3886200" cy="720600"/>
          </a:xfrm>
          <a:prstGeom prst="rect">
            <a:avLst/>
          </a:prstGeom>
          <a:solidFill>
            <a:srgbClr val="FFF4C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7105650" y="3543300"/>
            <a:ext cx="3143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</a:rPr>
              <a:t>Integrar</a:t>
            </a:r>
            <a:endParaRPr/>
          </a:p>
        </p:txBody>
      </p:sp>
      <p:sp>
        <p:nvSpPr>
          <p:cNvPr id="130" name="Google Shape;130;p7"/>
          <p:cNvSpPr/>
          <p:nvPr/>
        </p:nvSpPr>
        <p:spPr>
          <a:xfrm>
            <a:off x="7105650" y="3867150"/>
            <a:ext cx="3238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eventos RFID e API</a:t>
            </a:r>
            <a:endParaRPr sz="1350"/>
          </a:p>
        </p:txBody>
      </p:sp>
      <p:sp>
        <p:nvSpPr>
          <p:cNvPr id="131" name="Google Shape;131;p7"/>
          <p:cNvSpPr/>
          <p:nvPr/>
        </p:nvSpPr>
        <p:spPr>
          <a:xfrm>
            <a:off x="6858000" y="4514850"/>
            <a:ext cx="3886200" cy="685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7105650" y="4610100"/>
            <a:ext cx="3143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25">
                <a:solidFill>
                  <a:srgbClr val="075D3B"/>
                </a:solidFill>
              </a:rPr>
              <a:t>Verificar</a:t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7105650" y="4876800"/>
            <a:ext cx="3238500" cy="3240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5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fluxo em ambiente controlado</a:t>
            </a:r>
            <a:endParaRPr sz="1350"/>
          </a:p>
        </p:txBody>
      </p:sp>
      <p:cxnSp>
        <p:nvCxnSpPr>
          <p:cNvPr id="134" name="Google Shape;134;p7"/>
          <p:cNvCxnSpPr/>
          <p:nvPr/>
        </p:nvCxnSpPr>
        <p:spPr>
          <a:xfrm>
            <a:off x="723907" y="1561995"/>
            <a:ext cx="9253800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723900" y="552450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7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Comparação com trabalhos relacionados</a:t>
            </a:r>
            <a:endParaRPr/>
          </a:p>
        </p:txBody>
      </p:sp>
      <p:sp>
        <p:nvSpPr>
          <p:cNvPr id="144" name="Google Shape;144;p8"/>
          <p:cNvSpPr/>
          <p:nvPr/>
        </p:nvSpPr>
        <p:spPr>
          <a:xfrm>
            <a:off x="742950" y="1200150"/>
            <a:ext cx="9334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A literatura sustenta RFID, integração com sistemas e cautela na avaliação física da tecnologia.</a:t>
            </a:r>
            <a:endParaRPr/>
          </a:p>
        </p:txBody>
      </p:sp>
      <p:grpSp>
        <p:nvGrpSpPr>
          <p:cNvPr id="145" name="Google Shape;145;p8"/>
          <p:cNvGrpSpPr/>
          <p:nvPr/>
        </p:nvGrpSpPr>
        <p:grpSpPr>
          <a:xfrm>
            <a:off x="1066800" y="2581275"/>
            <a:ext cx="9410700" cy="1695600"/>
            <a:chOff x="1066800" y="2857500"/>
            <a:chExt cx="9410700" cy="1695600"/>
          </a:xfrm>
        </p:grpSpPr>
        <p:sp>
          <p:nvSpPr>
            <p:cNvPr id="146" name="Google Shape;146;p8"/>
            <p:cNvSpPr/>
            <p:nvPr/>
          </p:nvSpPr>
          <p:spPr>
            <a:xfrm>
              <a:off x="1066800" y="2857500"/>
              <a:ext cx="2743200" cy="169545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7DEE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8"/>
            <p:cNvSpPr/>
            <p:nvPr/>
          </p:nvSpPr>
          <p:spPr>
            <a:xfrm>
              <a:off x="1276350" y="3105150"/>
              <a:ext cx="2209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075D3B"/>
                  </a:solidFill>
                  <a:latin typeface="Arial"/>
                  <a:ea typeface="Arial"/>
                  <a:cs typeface="Arial"/>
                  <a:sym typeface="Arial"/>
                </a:rPr>
                <a:t>RFID em inventário</a:t>
              </a:r>
              <a:endParaRPr/>
            </a:p>
          </p:txBody>
        </p:sp>
        <p:sp>
          <p:nvSpPr>
            <p:cNvPr id="148" name="Google Shape;148;p8"/>
            <p:cNvSpPr/>
            <p:nvPr/>
          </p:nvSpPr>
          <p:spPr>
            <a:xfrm>
              <a:off x="1276350" y="3619500"/>
              <a:ext cx="2209800" cy="647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575">
                  <a:solidFill>
                    <a:srgbClr val="17202A"/>
                  </a:solidFill>
                  <a:latin typeface="Arial"/>
                  <a:ea typeface="Arial"/>
                  <a:cs typeface="Arial"/>
                  <a:sym typeface="Arial"/>
                </a:rPr>
                <a:t>identificação automática de bens</a:t>
              </a:r>
              <a:endParaRPr/>
            </a:p>
          </p:txBody>
        </p:sp>
        <p:sp>
          <p:nvSpPr>
            <p:cNvPr id="149" name="Google Shape;149;p8"/>
            <p:cNvSpPr/>
            <p:nvPr/>
          </p:nvSpPr>
          <p:spPr>
            <a:xfrm>
              <a:off x="4400550" y="2857500"/>
              <a:ext cx="2743200" cy="16956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7DEE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8"/>
            <p:cNvSpPr/>
            <p:nvPr/>
          </p:nvSpPr>
          <p:spPr>
            <a:xfrm>
              <a:off x="4610100" y="3105150"/>
              <a:ext cx="2209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075D3B"/>
                  </a:solidFill>
                  <a:latin typeface="Arial"/>
                  <a:ea typeface="Arial"/>
                  <a:cs typeface="Arial"/>
                  <a:sym typeface="Arial"/>
                </a:rPr>
                <a:t>Middleware e IoT</a:t>
              </a:r>
              <a:endParaRPr/>
            </a:p>
          </p:txBody>
        </p:sp>
        <p:sp>
          <p:nvSpPr>
            <p:cNvPr id="151" name="Google Shape;151;p8"/>
            <p:cNvSpPr/>
            <p:nvPr/>
          </p:nvSpPr>
          <p:spPr>
            <a:xfrm>
              <a:off x="4610100" y="3619500"/>
              <a:ext cx="2209800" cy="647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575">
                  <a:solidFill>
                    <a:srgbClr val="17202A"/>
                  </a:solidFill>
                  <a:latin typeface="Arial"/>
                  <a:ea typeface="Arial"/>
                  <a:cs typeface="Arial"/>
                  <a:sym typeface="Arial"/>
                </a:rPr>
                <a:t>integração de eventos a sistemas</a:t>
              </a:r>
              <a:endParaRPr/>
            </a:p>
          </p:txBody>
        </p:sp>
        <p:sp>
          <p:nvSpPr>
            <p:cNvPr id="152" name="Google Shape;152;p8"/>
            <p:cNvSpPr/>
            <p:nvPr/>
          </p:nvSpPr>
          <p:spPr>
            <a:xfrm>
              <a:off x="7734300" y="2857500"/>
              <a:ext cx="2743200" cy="1695450"/>
            </a:xfrm>
            <a:prstGeom prst="rect">
              <a:avLst/>
            </a:prstGeom>
            <a:solidFill>
              <a:srgbClr val="E7F4EE"/>
            </a:solidFill>
            <a:ln cap="flat" cmpd="sng" w="9525">
              <a:solidFill>
                <a:srgbClr val="0E7A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8"/>
            <p:cNvSpPr/>
            <p:nvPr/>
          </p:nvSpPr>
          <p:spPr>
            <a:xfrm>
              <a:off x="7943850" y="3105150"/>
              <a:ext cx="2209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075D3B"/>
                  </a:solidFill>
                  <a:latin typeface="Arial"/>
                  <a:ea typeface="Arial"/>
                  <a:cs typeface="Arial"/>
                  <a:sym typeface="Arial"/>
                </a:rPr>
                <a:t>InventoryRFID</a:t>
              </a:r>
              <a:endParaRPr/>
            </a:p>
          </p:txBody>
        </p:sp>
        <p:sp>
          <p:nvSpPr>
            <p:cNvPr id="154" name="Google Shape;154;p8"/>
            <p:cNvSpPr/>
            <p:nvPr/>
          </p:nvSpPr>
          <p:spPr>
            <a:xfrm>
              <a:off x="7943850" y="3619500"/>
              <a:ext cx="2209800" cy="647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575">
                  <a:solidFill>
                    <a:srgbClr val="17202A"/>
                  </a:solidFill>
                  <a:latin typeface="Arial"/>
                  <a:ea typeface="Arial"/>
                  <a:cs typeface="Arial"/>
                  <a:sym typeface="Arial"/>
                </a:rPr>
                <a:t>auditoria e resolução de inconsistências</a:t>
              </a:r>
              <a:endParaRPr/>
            </a:p>
          </p:txBody>
        </p:sp>
      </p:grpSp>
      <p:sp>
        <p:nvSpPr>
          <p:cNvPr id="155" name="Google Shape;155;p8"/>
          <p:cNvSpPr/>
          <p:nvPr/>
        </p:nvSpPr>
        <p:spPr>
          <a:xfrm>
            <a:off x="1200150" y="4991100"/>
            <a:ext cx="8382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75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Diferencial: a leitura RFID não fica restrita à identificação; ela alimenta auditoria patrimonial, registro e resolução de inconsistências e histórico operacional.</a:t>
            </a:r>
            <a:endParaRPr/>
          </a:p>
        </p:txBody>
      </p:sp>
      <p:cxnSp>
        <p:nvCxnSpPr>
          <p:cNvPr id="156" name="Google Shape;156;p8"/>
          <p:cNvCxnSpPr/>
          <p:nvPr/>
        </p:nvCxnSpPr>
        <p:spPr>
          <a:xfrm>
            <a:off x="723907" y="1592170"/>
            <a:ext cx="9253800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  <p:sp>
        <p:nvSpPr>
          <p:cNvPr id="165" name="Google Shape;165;p9"/>
          <p:cNvSpPr/>
          <p:nvPr/>
        </p:nvSpPr>
        <p:spPr>
          <a:xfrm>
            <a:off x="723900" y="552450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7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Percurso metodológico</a:t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742950" y="1200150"/>
            <a:ext cx="9334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A pesquisa foi organizada para sair do problema patrimonial, construir o protótipo e verificar o fluxo implementado.</a:t>
            </a:r>
            <a:endParaRPr/>
          </a:p>
        </p:txBody>
      </p:sp>
      <p:sp>
        <p:nvSpPr>
          <p:cNvPr id="167" name="Google Shape;167;p9"/>
          <p:cNvSpPr/>
          <p:nvPr/>
        </p:nvSpPr>
        <p:spPr>
          <a:xfrm>
            <a:off x="876300" y="2609850"/>
            <a:ext cx="2971800" cy="2743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1104900" y="3028950"/>
            <a:ext cx="323850" cy="323850"/>
          </a:xfrm>
          <a:prstGeom prst="ellipse">
            <a:avLst/>
          </a:prstGeom>
          <a:solidFill>
            <a:srgbClr val="E7F4EE"/>
          </a:solidFill>
          <a:ln cap="flat" cmpd="sng" w="9525">
            <a:solidFill>
              <a:srgbClr val="0E7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1104900" y="308610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7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170" name="Google Shape;170;p9"/>
          <p:cNvSpPr/>
          <p:nvPr/>
        </p:nvSpPr>
        <p:spPr>
          <a:xfrm>
            <a:off x="1570650" y="2933625"/>
            <a:ext cx="2154600" cy="5145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5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Entender o contexto</a:t>
            </a:r>
            <a:endParaRPr/>
          </a:p>
        </p:txBody>
      </p:sp>
      <p:sp>
        <p:nvSpPr>
          <p:cNvPr id="171" name="Google Shape;171;p9"/>
          <p:cNvSpPr/>
          <p:nvPr/>
        </p:nvSpPr>
        <p:spPr>
          <a:xfrm>
            <a:off x="1104900" y="3810000"/>
            <a:ext cx="23812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Revisão sobre controle patrimonial, RFID, integração e trabalhos relacionados.</a:t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4438650" y="2609850"/>
            <a:ext cx="2971800" cy="2743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4667250" y="3028950"/>
            <a:ext cx="323850" cy="323850"/>
          </a:xfrm>
          <a:prstGeom prst="ellipse">
            <a:avLst/>
          </a:prstGeom>
          <a:solidFill>
            <a:srgbClr val="E7F4EE"/>
          </a:solidFill>
          <a:ln cap="flat" cmpd="sng" w="9525">
            <a:solidFill>
              <a:srgbClr val="0E7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4667250" y="308610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7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175" name="Google Shape;175;p9"/>
          <p:cNvSpPr/>
          <p:nvPr/>
        </p:nvSpPr>
        <p:spPr>
          <a:xfrm>
            <a:off x="5128725" y="2933625"/>
            <a:ext cx="2154600" cy="5145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5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Desenvolvimento</a:t>
            </a:r>
            <a:r>
              <a:rPr b="1" lang="pt-BR" sz="1650">
                <a:solidFill>
                  <a:srgbClr val="17202A"/>
                </a:solidFill>
              </a:rPr>
              <a:t/>
            </a:r>
            <a:endParaRPr/>
          </a:p>
        </p:txBody>
      </p:sp>
      <p:sp>
        <p:nvSpPr>
          <p:cNvPr id="176" name="Google Shape;176;p9"/>
          <p:cNvSpPr/>
          <p:nvPr/>
        </p:nvSpPr>
        <p:spPr>
          <a:xfrm>
            <a:off x="4667250" y="3810000"/>
            <a:ext cx="23812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Modelagem, arquitetura, telas, API e regras de processamento das leituras.</a:t>
            </a:r>
            <a:endParaRPr/>
          </a:p>
        </p:txBody>
      </p:sp>
      <p:sp>
        <p:nvSpPr>
          <p:cNvPr id="177" name="Google Shape;177;p9"/>
          <p:cNvSpPr/>
          <p:nvPr/>
        </p:nvSpPr>
        <p:spPr>
          <a:xfrm>
            <a:off x="8001000" y="2609850"/>
            <a:ext cx="2971800" cy="2743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8229600" y="3028950"/>
            <a:ext cx="323850" cy="323850"/>
          </a:xfrm>
          <a:prstGeom prst="ellipse">
            <a:avLst/>
          </a:prstGeom>
          <a:solidFill>
            <a:srgbClr val="E7F4EE"/>
          </a:solidFill>
          <a:ln cap="flat" cmpd="sng" w="9525">
            <a:solidFill>
              <a:srgbClr val="0E7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8229600" y="308610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75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180" name="Google Shape;180;p9"/>
          <p:cNvSpPr/>
          <p:nvPr/>
        </p:nvSpPr>
        <p:spPr>
          <a:xfrm>
            <a:off x="8686800" y="2933700"/>
            <a:ext cx="1886100" cy="5145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5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Validar o fluxo</a:t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8229600" y="3810000"/>
            <a:ext cx="23812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Cenários controlados com leitor de proximidade, uma tag, comunicador e API.</a:t>
            </a:r>
            <a:endParaRPr/>
          </a:p>
        </p:txBody>
      </p:sp>
      <p:cxnSp>
        <p:nvCxnSpPr>
          <p:cNvPr id="182" name="Google Shape;182;p9"/>
          <p:cNvCxnSpPr/>
          <p:nvPr/>
        </p:nvCxnSpPr>
        <p:spPr>
          <a:xfrm>
            <a:off x="723907" y="1756220"/>
            <a:ext cx="9253800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sz="1800">
              <a:solidFill>
                <a:srgbClr val="51606F"/>
              </a:solidFill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723900" y="552450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50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Arquitetura e tecnologias</a:t>
            </a:r>
            <a:endParaRPr sz="2750"/>
          </a:p>
        </p:txBody>
      </p:sp>
      <p:sp>
        <p:nvSpPr>
          <p:cNvPr id="191" name="Google Shape;191;p10"/>
          <p:cNvSpPr/>
          <p:nvPr/>
        </p:nvSpPr>
        <p:spPr>
          <a:xfrm>
            <a:off x="723900" y="1162050"/>
            <a:ext cx="9334500" cy="4383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A aplicação combina interface web, API REST, banco local e middleware para processar eventos RFID.</a:t>
            </a:r>
            <a:endParaRPr sz="900"/>
          </a:p>
        </p:txBody>
      </p:sp>
      <p:grpSp>
        <p:nvGrpSpPr>
          <p:cNvPr id="192" name="Google Shape;192;p10"/>
          <p:cNvGrpSpPr/>
          <p:nvPr/>
        </p:nvGrpSpPr>
        <p:grpSpPr>
          <a:xfrm>
            <a:off x="589145" y="1847526"/>
            <a:ext cx="11318130" cy="4307581"/>
            <a:chOff x="564070" y="2022251"/>
            <a:chExt cx="11318130" cy="4307581"/>
          </a:xfrm>
        </p:grpSpPr>
        <p:grpSp>
          <p:nvGrpSpPr>
            <p:cNvPr id="193" name="Google Shape;193;p10"/>
            <p:cNvGrpSpPr/>
            <p:nvPr/>
          </p:nvGrpSpPr>
          <p:grpSpPr>
            <a:xfrm>
              <a:off x="564070" y="2022304"/>
              <a:ext cx="7114681" cy="4307528"/>
              <a:chOff x="621792" y="1719072"/>
              <a:chExt cx="6720840" cy="4069080"/>
            </a:xfrm>
          </p:grpSpPr>
          <p:sp>
            <p:nvSpPr>
              <p:cNvPr id="194" name="Google Shape;194;p10"/>
              <p:cNvSpPr/>
              <p:nvPr/>
            </p:nvSpPr>
            <p:spPr>
              <a:xfrm>
                <a:off x="621792" y="1719072"/>
                <a:ext cx="6720840" cy="4069080"/>
              </a:xfrm>
              <a:prstGeom prst="rect">
                <a:avLst/>
              </a:prstGeom>
              <a:solidFill>
                <a:srgbClr val="FFFFFF"/>
              </a:solidFill>
              <a:ln cap="flat" cmpd="sng" w="10075">
                <a:solidFill>
                  <a:srgbClr val="D7DEE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8375" lIns="96775" spcFirstLastPara="1" rIns="96775" wrap="square" tIns="48375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905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195" name="Google Shape;195;p10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862646" y="1874544"/>
                <a:ext cx="6309362" cy="370331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96" name="Google Shape;196;p10"/>
            <p:cNvSpPr/>
            <p:nvPr/>
          </p:nvSpPr>
          <p:spPr>
            <a:xfrm>
              <a:off x="8076700" y="2022251"/>
              <a:ext cx="3805500" cy="43074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D7DEE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7" name="Google Shape;197;p10"/>
          <p:cNvGrpSpPr/>
          <p:nvPr/>
        </p:nvGrpSpPr>
        <p:grpSpPr>
          <a:xfrm>
            <a:off x="8353192" y="2134800"/>
            <a:ext cx="2998008" cy="3925000"/>
            <a:chOff x="7479792" y="1764800"/>
            <a:chExt cx="2998008" cy="3925000"/>
          </a:xfrm>
        </p:grpSpPr>
        <p:sp>
          <p:nvSpPr>
            <p:cNvPr id="198" name="Google Shape;198;p10"/>
            <p:cNvSpPr txBox="1"/>
            <p:nvPr/>
          </p:nvSpPr>
          <p:spPr>
            <a:xfrm>
              <a:off x="7543800" y="1764800"/>
              <a:ext cx="2934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Camadas e tecnologias</a:t>
              </a:r>
              <a:endParaRPr sz="1800"/>
            </a:p>
          </p:txBody>
        </p:sp>
        <p:sp>
          <p:nvSpPr>
            <p:cNvPr id="199" name="Google Shape;199;p10"/>
            <p:cNvSpPr/>
            <p:nvPr/>
          </p:nvSpPr>
          <p:spPr>
            <a:xfrm>
              <a:off x="7479792" y="2240280"/>
              <a:ext cx="118872" cy="438912"/>
            </a:xfrm>
            <a:prstGeom prst="rect">
              <a:avLst/>
            </a:prstGeom>
            <a:solidFill>
              <a:srgbClr val="0E7A4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p10"/>
            <p:cNvSpPr txBox="1"/>
            <p:nvPr/>
          </p:nvSpPr>
          <p:spPr>
            <a:xfrm>
              <a:off x="7708392" y="2231136"/>
              <a:ext cx="2148900" cy="17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12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Interface web</a:t>
              </a:r>
              <a:endParaRPr/>
            </a:p>
          </p:txBody>
        </p:sp>
        <p:sp>
          <p:nvSpPr>
            <p:cNvPr id="201" name="Google Shape;201;p10"/>
            <p:cNvSpPr txBox="1"/>
            <p:nvPr/>
          </p:nvSpPr>
          <p:spPr>
            <a:xfrm>
              <a:off x="7708392" y="2450592"/>
              <a:ext cx="2240400" cy="20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33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Next.js / React</a:t>
              </a:r>
              <a:endParaRPr/>
            </a:p>
          </p:txBody>
        </p:sp>
        <p:sp>
          <p:nvSpPr>
            <p:cNvPr id="202" name="Google Shape;202;p10"/>
            <p:cNvSpPr/>
            <p:nvPr/>
          </p:nvSpPr>
          <p:spPr>
            <a:xfrm>
              <a:off x="7479792" y="2953512"/>
              <a:ext cx="118872" cy="438912"/>
            </a:xfrm>
            <a:prstGeom prst="rect">
              <a:avLst/>
            </a:prstGeom>
            <a:solidFill>
              <a:srgbClr val="0E7A4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203;p10"/>
            <p:cNvSpPr txBox="1"/>
            <p:nvPr/>
          </p:nvSpPr>
          <p:spPr>
            <a:xfrm>
              <a:off x="7708392" y="2944368"/>
              <a:ext cx="2148900" cy="17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12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API backend</a:t>
              </a:r>
              <a:endParaRPr/>
            </a:p>
          </p:txBody>
        </p:sp>
        <p:sp>
          <p:nvSpPr>
            <p:cNvPr id="204" name="Google Shape;204;p10"/>
            <p:cNvSpPr txBox="1"/>
            <p:nvPr/>
          </p:nvSpPr>
          <p:spPr>
            <a:xfrm>
              <a:off x="7708392" y="3163824"/>
              <a:ext cx="2240400" cy="20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33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Django / DRF</a:t>
              </a:r>
              <a:endParaRPr/>
            </a:p>
          </p:txBody>
        </p:sp>
        <p:sp>
          <p:nvSpPr>
            <p:cNvPr id="205" name="Google Shape;205;p10"/>
            <p:cNvSpPr/>
            <p:nvPr/>
          </p:nvSpPr>
          <p:spPr>
            <a:xfrm>
              <a:off x="7479792" y="3666744"/>
              <a:ext cx="118872" cy="438912"/>
            </a:xfrm>
            <a:prstGeom prst="rect">
              <a:avLst/>
            </a:prstGeom>
            <a:solidFill>
              <a:srgbClr val="0E7A4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10"/>
            <p:cNvSpPr txBox="1"/>
            <p:nvPr/>
          </p:nvSpPr>
          <p:spPr>
            <a:xfrm>
              <a:off x="7708392" y="3657600"/>
              <a:ext cx="2148900" cy="17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12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Persistência</a:t>
              </a:r>
              <a:endParaRPr/>
            </a:p>
          </p:txBody>
        </p:sp>
        <p:sp>
          <p:nvSpPr>
            <p:cNvPr id="207" name="Google Shape;207;p10"/>
            <p:cNvSpPr txBox="1"/>
            <p:nvPr/>
          </p:nvSpPr>
          <p:spPr>
            <a:xfrm>
              <a:off x="7708392" y="3877056"/>
              <a:ext cx="2240400" cy="20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33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SQLite</a:t>
              </a:r>
              <a:endParaRPr/>
            </a:p>
          </p:txBody>
        </p:sp>
        <p:sp>
          <p:nvSpPr>
            <p:cNvPr id="208" name="Google Shape;208;p10"/>
            <p:cNvSpPr/>
            <p:nvPr/>
          </p:nvSpPr>
          <p:spPr>
            <a:xfrm>
              <a:off x="7479792" y="4379976"/>
              <a:ext cx="118872" cy="438912"/>
            </a:xfrm>
            <a:prstGeom prst="rect">
              <a:avLst/>
            </a:prstGeom>
            <a:solidFill>
              <a:srgbClr val="D8A21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0"/>
            <p:cNvSpPr txBox="1"/>
            <p:nvPr/>
          </p:nvSpPr>
          <p:spPr>
            <a:xfrm>
              <a:off x="7708392" y="4370832"/>
              <a:ext cx="2148900" cy="17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12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Middleware RFID</a:t>
              </a:r>
              <a:endParaRPr/>
            </a:p>
          </p:txBody>
        </p:sp>
        <p:sp>
          <p:nvSpPr>
            <p:cNvPr id="210" name="Google Shape;210;p10"/>
            <p:cNvSpPr txBox="1"/>
            <p:nvPr/>
          </p:nvSpPr>
          <p:spPr>
            <a:xfrm>
              <a:off x="7708392" y="4590288"/>
              <a:ext cx="2240400" cy="20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33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Eventos / integração</a:t>
              </a:r>
              <a:endParaRPr/>
            </a:p>
          </p:txBody>
        </p:sp>
        <p:cxnSp>
          <p:nvCxnSpPr>
            <p:cNvPr id="211" name="Google Shape;211;p10"/>
            <p:cNvCxnSpPr/>
            <p:nvPr/>
          </p:nvCxnSpPr>
          <p:spPr>
            <a:xfrm>
              <a:off x="7479792" y="5248165"/>
              <a:ext cx="2441400" cy="0"/>
            </a:xfrm>
            <a:prstGeom prst="straightConnector1">
              <a:avLst/>
            </a:prstGeom>
            <a:noFill/>
            <a:ln cap="flat" cmpd="sng" w="10150">
              <a:solidFill>
                <a:srgbClr val="D7DEE6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2" name="Google Shape;212;p10"/>
            <p:cNvSpPr txBox="1"/>
            <p:nvPr/>
          </p:nvSpPr>
          <p:spPr>
            <a:xfrm>
              <a:off x="7479800" y="5320500"/>
              <a:ext cx="2578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20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Middleware como ponte entre leitura RFID e API.</a:t>
              </a:r>
              <a:endParaRPr sz="1200"/>
            </a:p>
          </p:txBody>
        </p:sp>
      </p:grpSp>
      <p:cxnSp>
        <p:nvCxnSpPr>
          <p:cNvPr id="213" name="Google Shape;213;p10"/>
          <p:cNvCxnSpPr/>
          <p:nvPr/>
        </p:nvCxnSpPr>
        <p:spPr>
          <a:xfrm>
            <a:off x="723907" y="1605820"/>
            <a:ext cx="9253800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10"/>
          <p:cNvSpPr txBox="1"/>
          <p:nvPr/>
        </p:nvSpPr>
        <p:spPr>
          <a:xfrm>
            <a:off x="11420075" y="6155100"/>
            <a:ext cx="487200" cy="2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rgbClr val="51606F"/>
                </a:solidFill>
              </a:rPr>
              <a:t>08</a:t>
            </a:r>
            <a:endParaRPr sz="1800">
              <a:solidFill>
                <a:srgbClr val="51606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F7F9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E7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 txBox="1"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  <p:sp>
        <p:nvSpPr>
          <p:cNvPr id="267" name="Google Shape;267;p12"/>
          <p:cNvSpPr txBox="1"/>
          <p:nvPr/>
        </p:nvSpPr>
        <p:spPr>
          <a:xfrm>
            <a:off x="723900" y="520700"/>
            <a:ext cx="1028700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75">
                <a:solidFill>
                  <a:srgbClr val="17202A"/>
                </a:solidFill>
              </a:rPr>
              <a:t>Demonstração do protótipo</a:t>
            </a:r>
            <a:endParaRPr sz="3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 txBox="1"/>
          <p:nvPr/>
        </p:nvSpPr>
        <p:spPr>
          <a:xfrm>
            <a:off x="723900" y="1081175"/>
            <a:ext cx="9334500" cy="4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Vídeo demonstrativo das interfaces principais no deploy da aplicação.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 txBox="1"/>
          <p:nvPr/>
        </p:nvSpPr>
        <p:spPr>
          <a:xfrm>
            <a:off x="5848350" y="3048000"/>
            <a:ext cx="457200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5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143000" y="1872763"/>
            <a:ext cx="9906000" cy="3619500"/>
            <a:chOff x="1143000" y="1714500"/>
            <a:chExt cx="9906000" cy="3619500"/>
          </a:xfrm>
        </p:grpSpPr>
        <p:sp>
          <p:nvSpPr>
            <p:cNvPr id="271" name="Google Shape;271;p12"/>
            <p:cNvSpPr/>
            <p:nvPr/>
          </p:nvSpPr>
          <p:spPr>
            <a:xfrm>
              <a:off x="1143000" y="1714500"/>
              <a:ext cx="9906000" cy="3619500"/>
            </a:xfrm>
            <a:prstGeom prst="rect">
              <a:avLst/>
            </a:prstGeom>
            <a:solidFill>
              <a:srgbClr val="17202A"/>
            </a:solidFill>
            <a:ln cap="flat" cmpd="sng" w="9525">
              <a:solidFill>
                <a:srgbClr val="075D3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12"/>
            <p:cNvSpPr/>
            <p:nvPr/>
          </p:nvSpPr>
          <p:spPr>
            <a:xfrm>
              <a:off x="1352550" y="1924050"/>
              <a:ext cx="9486900" cy="3200400"/>
            </a:xfrm>
            <a:prstGeom prst="rect">
              <a:avLst/>
            </a:prstGeom>
            <a:solidFill>
              <a:srgbClr val="22303B"/>
            </a:solidFill>
            <a:ln cap="flat" cmpd="sng" w="9525">
              <a:solidFill>
                <a:srgbClr val="3146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3" name="Google Shape;273;p12"/>
            <p:cNvSpPr/>
            <p:nvPr/>
          </p:nvSpPr>
          <p:spPr>
            <a:xfrm>
              <a:off x="5495925" y="2857500"/>
              <a:ext cx="1257300" cy="1257300"/>
            </a:xfrm>
            <a:prstGeom prst="ellipse">
              <a:avLst/>
            </a:prstGeom>
            <a:solidFill>
              <a:srgbClr val="0E7A4F"/>
            </a:solidFill>
            <a:ln cap="flat" cmpd="sng" w="9525">
              <a:solidFill>
                <a:srgbClr val="0E7A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12"/>
            <p:cNvSpPr txBox="1"/>
            <p:nvPr/>
          </p:nvSpPr>
          <p:spPr>
            <a:xfrm>
              <a:off x="2381250" y="4160520"/>
              <a:ext cx="7437750" cy="29260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80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Vídeo demonstrativo do protótipo</a:t>
              </a:r>
              <a:endParaRPr/>
            </a:p>
          </p:txBody>
        </p:sp>
        <p:sp>
          <p:nvSpPr>
            <p:cNvPr id="275" name="Google Shape;275;p12"/>
            <p:cNvSpPr txBox="1"/>
            <p:nvPr/>
          </p:nvSpPr>
          <p:spPr>
            <a:xfrm>
              <a:off x="2381250" y="4498848"/>
              <a:ext cx="7437750" cy="23774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35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Painel  •  Auditoria  •  Inconsistências</a:t>
              </a:r>
              <a:endParaRPr/>
            </a:p>
          </p:txBody>
        </p:sp>
      </p:grpSp>
      <p:sp>
        <p:nvSpPr>
          <p:cNvPr id="276" name="Google Shape;276;p12"/>
          <p:cNvSpPr/>
          <p:nvPr/>
        </p:nvSpPr>
        <p:spPr>
          <a:xfrm>
            <a:off x="4371975" y="5852145"/>
            <a:ext cx="3505200" cy="393300"/>
          </a:xfrm>
          <a:prstGeom prst="rect">
            <a:avLst/>
          </a:prstGeom>
          <a:solidFill>
            <a:srgbClr val="075D3B"/>
          </a:solidFill>
          <a:ln cap="flat" cmpd="sng" w="9525">
            <a:solidFill>
              <a:srgbClr val="075D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 txBox="1"/>
          <p:nvPr/>
        </p:nvSpPr>
        <p:spPr>
          <a:xfrm>
            <a:off x="4371975" y="5852151"/>
            <a:ext cx="35052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50">
                <a:solidFill>
                  <a:schemeClr val="lt1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Acessar deploy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278" name="Google Shape;278;p12"/>
          <p:cNvCxnSpPr/>
          <p:nvPr/>
        </p:nvCxnSpPr>
        <p:spPr>
          <a:xfrm>
            <a:off x="723907" y="1505545"/>
            <a:ext cx="9253800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3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3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287" name="Google Shape;287;p13"/>
          <p:cNvSpPr/>
          <p:nvPr/>
        </p:nvSpPr>
        <p:spPr>
          <a:xfrm>
            <a:off x="723900" y="552450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775">
                <a:solidFill>
                  <a:srgbClr val="17202A"/>
                </a:solidFill>
                <a:latin typeface="Arial"/>
                <a:ea typeface="Arial"/>
                <a:cs typeface="Arial"/>
                <a:sym typeface="Arial"/>
              </a:rPr>
              <a:t>Resultados e limitações</a:t>
            </a:r>
            <a:endParaRPr/>
          </a:p>
        </p:txBody>
      </p:sp>
      <p:sp>
        <p:nvSpPr>
          <p:cNvPr id="288" name="Google Shape;288;p13"/>
          <p:cNvSpPr/>
          <p:nvPr/>
        </p:nvSpPr>
        <p:spPr>
          <a:xfrm>
            <a:off x="742950" y="1200150"/>
            <a:ext cx="9334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Em cenário controlado, o protótipo operou com leitor RFID USB de proximidade, uma tag física, comunicador intermediário e API. A avaliação verificou captura, envio, processamento, classificação e registro dos eventos RFID.</a:t>
            </a:r>
            <a:endParaRPr/>
          </a:p>
        </p:txBody>
      </p:sp>
      <p:sp>
        <p:nvSpPr>
          <p:cNvPr id="289" name="Google Shape;289;p13"/>
          <p:cNvSpPr/>
          <p:nvPr/>
        </p:nvSpPr>
        <p:spPr>
          <a:xfrm>
            <a:off x="781050" y="2190750"/>
            <a:ext cx="3143250" cy="400050"/>
          </a:xfrm>
          <a:prstGeom prst="rect">
            <a:avLst/>
          </a:prstGeom>
          <a:solidFill>
            <a:srgbClr val="075D3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914400" y="2266950"/>
            <a:ext cx="2876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Resultado observado</a:t>
            </a:r>
            <a:endParaRPr/>
          </a:p>
        </p:txBody>
      </p:sp>
      <p:sp>
        <p:nvSpPr>
          <p:cNvPr id="291" name="Google Shape;291;p13"/>
          <p:cNvSpPr/>
          <p:nvPr/>
        </p:nvSpPr>
        <p:spPr>
          <a:xfrm>
            <a:off x="3924300" y="2190750"/>
            <a:ext cx="1238250" cy="400050"/>
          </a:xfrm>
          <a:prstGeom prst="rect">
            <a:avLst/>
          </a:prstGeom>
          <a:solidFill>
            <a:srgbClr val="075D3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4057650" y="2266950"/>
            <a:ext cx="971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/>
          </a:p>
        </p:txBody>
      </p:sp>
      <p:sp>
        <p:nvSpPr>
          <p:cNvPr id="293" name="Google Shape;293;p13"/>
          <p:cNvSpPr/>
          <p:nvPr/>
        </p:nvSpPr>
        <p:spPr>
          <a:xfrm>
            <a:off x="5162550" y="2190750"/>
            <a:ext cx="6191250" cy="400050"/>
          </a:xfrm>
          <a:prstGeom prst="rect">
            <a:avLst/>
          </a:prstGeom>
          <a:solidFill>
            <a:srgbClr val="075D3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5295900" y="2266950"/>
            <a:ext cx="5924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Evidência</a:t>
            </a:r>
            <a:endParaRPr/>
          </a:p>
        </p:txBody>
      </p:sp>
      <p:sp>
        <p:nvSpPr>
          <p:cNvPr id="295" name="Google Shape;295;p13"/>
          <p:cNvSpPr/>
          <p:nvPr/>
        </p:nvSpPr>
        <p:spPr>
          <a:xfrm>
            <a:off x="781050" y="2590800"/>
            <a:ext cx="3143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914400" y="2667000"/>
            <a:ext cx="2876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Leitura RFID real</a:t>
            </a:r>
            <a:endParaRPr/>
          </a:p>
        </p:txBody>
      </p:sp>
      <p:sp>
        <p:nvSpPr>
          <p:cNvPr id="297" name="Google Shape;297;p13"/>
          <p:cNvSpPr/>
          <p:nvPr/>
        </p:nvSpPr>
        <p:spPr>
          <a:xfrm>
            <a:off x="3924300" y="2590800"/>
            <a:ext cx="1238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4057650" y="2667000"/>
            <a:ext cx="971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50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6/6</a:t>
            </a:r>
            <a:endParaRPr/>
          </a:p>
        </p:txBody>
      </p:sp>
      <p:sp>
        <p:nvSpPr>
          <p:cNvPr id="299" name="Google Shape;299;p13"/>
          <p:cNvSpPr/>
          <p:nvPr/>
        </p:nvSpPr>
        <p:spPr>
          <a:xfrm>
            <a:off x="5162550" y="2590800"/>
            <a:ext cx="6191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5295900" y="2667000"/>
            <a:ext cx="5924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tag física capturada e enviada à API</a:t>
            </a:r>
            <a:endParaRPr/>
          </a:p>
        </p:txBody>
      </p:sp>
      <p:sp>
        <p:nvSpPr>
          <p:cNvPr id="301" name="Google Shape;301;p13"/>
          <p:cNvSpPr/>
          <p:nvPr/>
        </p:nvSpPr>
        <p:spPr>
          <a:xfrm>
            <a:off x="781050" y="3124200"/>
            <a:ext cx="3143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914400" y="3200400"/>
            <a:ext cx="2876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Processamento do evento</a:t>
            </a:r>
            <a:endParaRPr/>
          </a:p>
        </p:txBody>
      </p:sp>
      <p:sp>
        <p:nvSpPr>
          <p:cNvPr id="303" name="Google Shape;303;p13"/>
          <p:cNvSpPr/>
          <p:nvPr/>
        </p:nvSpPr>
        <p:spPr>
          <a:xfrm>
            <a:off x="3924300" y="3124200"/>
            <a:ext cx="1238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4057650" y="3200400"/>
            <a:ext cx="971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50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6/6</a:t>
            </a:r>
            <a:endParaRPr/>
          </a:p>
        </p:txBody>
      </p:sp>
      <p:sp>
        <p:nvSpPr>
          <p:cNvPr id="305" name="Google Shape;305;p13"/>
          <p:cNvSpPr/>
          <p:nvPr/>
        </p:nvSpPr>
        <p:spPr>
          <a:xfrm>
            <a:off x="5162550" y="3124200"/>
            <a:ext cx="6191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5295900" y="3200400"/>
            <a:ext cx="5924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tag, leitor e item associado identificados</a:t>
            </a:r>
            <a:endParaRPr/>
          </a:p>
        </p:txBody>
      </p:sp>
      <p:sp>
        <p:nvSpPr>
          <p:cNvPr id="307" name="Google Shape;307;p13"/>
          <p:cNvSpPr/>
          <p:nvPr/>
        </p:nvSpPr>
        <p:spPr>
          <a:xfrm>
            <a:off x="781050" y="3657600"/>
            <a:ext cx="3143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914400" y="3733800"/>
            <a:ext cx="2876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Comparação lógico x físico</a:t>
            </a: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3924300" y="3657600"/>
            <a:ext cx="1238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4057650" y="3733800"/>
            <a:ext cx="971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50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6/6</a:t>
            </a:r>
            <a:endParaRPr/>
          </a:p>
        </p:txBody>
      </p:sp>
      <p:sp>
        <p:nvSpPr>
          <p:cNvPr id="311" name="Google Shape;311;p13"/>
          <p:cNvSpPr/>
          <p:nvPr/>
        </p:nvSpPr>
        <p:spPr>
          <a:xfrm>
            <a:off x="5162550" y="3657600"/>
            <a:ext cx="6191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5295900" y="3733800"/>
            <a:ext cx="5924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lidos, ausentes ou divergentes classificados</a:t>
            </a:r>
            <a:endParaRPr/>
          </a:p>
        </p:txBody>
      </p:sp>
      <p:sp>
        <p:nvSpPr>
          <p:cNvPr id="313" name="Google Shape;313;p13"/>
          <p:cNvSpPr/>
          <p:nvPr/>
        </p:nvSpPr>
        <p:spPr>
          <a:xfrm>
            <a:off x="781050" y="4191000"/>
            <a:ext cx="3143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914400" y="4267200"/>
            <a:ext cx="2876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Registro operacional</a:t>
            </a:r>
            <a:endParaRPr/>
          </a:p>
        </p:txBody>
      </p:sp>
      <p:sp>
        <p:nvSpPr>
          <p:cNvPr id="315" name="Google Shape;315;p13"/>
          <p:cNvSpPr/>
          <p:nvPr/>
        </p:nvSpPr>
        <p:spPr>
          <a:xfrm>
            <a:off x="3924300" y="4191000"/>
            <a:ext cx="1238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3"/>
          <p:cNvSpPr/>
          <p:nvPr/>
        </p:nvSpPr>
        <p:spPr>
          <a:xfrm>
            <a:off x="4057650" y="4267200"/>
            <a:ext cx="971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50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6/6</a:t>
            </a:r>
            <a:endParaRPr/>
          </a:p>
        </p:txBody>
      </p:sp>
      <p:sp>
        <p:nvSpPr>
          <p:cNvPr id="317" name="Google Shape;317;p13"/>
          <p:cNvSpPr/>
          <p:nvPr/>
        </p:nvSpPr>
        <p:spPr>
          <a:xfrm>
            <a:off x="5162550" y="4191000"/>
            <a:ext cx="6191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5295900" y="4267200"/>
            <a:ext cx="5924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auditoria, histórico e inconsistências atualizados</a:t>
            </a:r>
            <a:endParaRPr/>
          </a:p>
        </p:txBody>
      </p:sp>
      <p:sp>
        <p:nvSpPr>
          <p:cNvPr id="319" name="Google Shape;319;p13"/>
          <p:cNvSpPr/>
          <p:nvPr/>
        </p:nvSpPr>
        <p:spPr>
          <a:xfrm>
            <a:off x="781050" y="4724400"/>
            <a:ext cx="3143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914400" y="4800600"/>
            <a:ext cx="2876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Tratamento de exceções</a:t>
            </a:r>
            <a:endParaRPr/>
          </a:p>
        </p:txBody>
      </p:sp>
      <p:sp>
        <p:nvSpPr>
          <p:cNvPr id="321" name="Google Shape;321;p13"/>
          <p:cNvSpPr/>
          <p:nvPr/>
        </p:nvSpPr>
        <p:spPr>
          <a:xfrm>
            <a:off x="3924300" y="4724400"/>
            <a:ext cx="1238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3"/>
          <p:cNvSpPr/>
          <p:nvPr/>
        </p:nvSpPr>
        <p:spPr>
          <a:xfrm>
            <a:off x="4057650" y="4800600"/>
            <a:ext cx="971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50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6/6</a:t>
            </a:r>
            <a:endParaRPr/>
          </a:p>
        </p:txBody>
      </p:sp>
      <p:sp>
        <p:nvSpPr>
          <p:cNvPr id="323" name="Google Shape;323;p13"/>
          <p:cNvSpPr/>
          <p:nvPr/>
        </p:nvSpPr>
        <p:spPr>
          <a:xfrm>
            <a:off x="5162550" y="4724400"/>
            <a:ext cx="6191250" cy="533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5295900" y="4800600"/>
            <a:ext cx="5924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tag desconhecida, repetição e sem resposta sinalizadas</a:t>
            </a:r>
            <a:endParaRPr/>
          </a:p>
        </p:txBody>
      </p:sp>
      <p:sp>
        <p:nvSpPr>
          <p:cNvPr id="325" name="Google Shape;325;p13"/>
          <p:cNvSpPr/>
          <p:nvPr/>
        </p:nvSpPr>
        <p:spPr>
          <a:xfrm>
            <a:off x="781050" y="5212080"/>
            <a:ext cx="3143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3"/>
          <p:cNvSpPr/>
          <p:nvPr/>
        </p:nvSpPr>
        <p:spPr>
          <a:xfrm>
            <a:off x="914400" y="5288280"/>
            <a:ext cx="2876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Limitação experimental</a:t>
            </a:r>
            <a:endParaRPr/>
          </a:p>
        </p:txBody>
      </p:sp>
      <p:sp>
        <p:nvSpPr>
          <p:cNvPr id="327" name="Google Shape;327;p13"/>
          <p:cNvSpPr/>
          <p:nvPr/>
        </p:nvSpPr>
        <p:spPr>
          <a:xfrm>
            <a:off x="3924300" y="5212080"/>
            <a:ext cx="1238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3"/>
          <p:cNvSpPr/>
          <p:nvPr/>
        </p:nvSpPr>
        <p:spPr>
          <a:xfrm>
            <a:off x="4057650" y="5288280"/>
            <a:ext cx="971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50">
                <a:solidFill>
                  <a:srgbClr val="075D3B"/>
                </a:solidFill>
                <a:latin typeface="Arial"/>
                <a:ea typeface="Arial"/>
                <a:cs typeface="Arial"/>
                <a:sym typeface="Arial"/>
              </a:rPr>
              <a:t>escopo</a:t>
            </a:r>
            <a:endParaRPr/>
          </a:p>
        </p:txBody>
      </p:sp>
      <p:sp>
        <p:nvSpPr>
          <p:cNvPr id="329" name="Google Shape;329;p13"/>
          <p:cNvSpPr/>
          <p:nvPr/>
        </p:nvSpPr>
        <p:spPr>
          <a:xfrm>
            <a:off x="5162550" y="5212080"/>
            <a:ext cx="6191250" cy="533400"/>
          </a:xfrm>
          <a:prstGeom prst="rect">
            <a:avLst/>
          </a:prstGeom>
          <a:solidFill>
            <a:srgbClr val="F0F5F2"/>
          </a:solidFill>
          <a:ln cap="flat" cmpd="sng" w="9525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5295900" y="5288280"/>
            <a:ext cx="59245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07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sem alcance, interferência, múltiplas tags ou escala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339" name="Google Shape;339;p14"/>
          <p:cNvSpPr txBox="1"/>
          <p:nvPr/>
        </p:nvSpPr>
        <p:spPr>
          <a:xfrm>
            <a:off x="694944" y="438912"/>
            <a:ext cx="9601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0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Conclusão e trabalhos futuros</a:t>
            </a:r>
            <a:endParaRPr/>
          </a:p>
        </p:txBody>
      </p:sp>
      <p:sp>
        <p:nvSpPr>
          <p:cNvPr id="340" name="Google Shape;340;p14"/>
          <p:cNvSpPr txBox="1"/>
          <p:nvPr/>
        </p:nvSpPr>
        <p:spPr>
          <a:xfrm>
            <a:off x="713232" y="960120"/>
            <a:ext cx="9098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330">
                <a:solidFill>
                  <a:srgbClr val="52616D"/>
                </a:solidFill>
                <a:latin typeface="Arial"/>
                <a:ea typeface="Arial"/>
                <a:cs typeface="Arial"/>
                <a:sym typeface="Arial"/>
              </a:rPr>
              <a:t>O sistema transforma eventos RFID em informações rastreáveis para apoiar o controle patrimonial.</a:t>
            </a:r>
            <a:endParaRPr/>
          </a:p>
        </p:txBody>
      </p:sp>
      <p:cxnSp>
        <p:nvCxnSpPr>
          <p:cNvPr id="341" name="Google Shape;341;p14"/>
          <p:cNvCxnSpPr/>
          <p:nvPr/>
        </p:nvCxnSpPr>
        <p:spPr>
          <a:xfrm>
            <a:off x="713232" y="1417320"/>
            <a:ext cx="9253728" cy="0"/>
          </a:xfrm>
          <a:prstGeom prst="straightConnector1">
            <a:avLst/>
          </a:prstGeom>
          <a:noFill/>
          <a:ln cap="flat" cmpd="sng" w="1015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42" name="Google Shape;342;p14"/>
          <p:cNvGrpSpPr/>
          <p:nvPr/>
        </p:nvGrpSpPr>
        <p:grpSpPr>
          <a:xfrm>
            <a:off x="813495" y="1984252"/>
            <a:ext cx="4828032" cy="3520440"/>
            <a:chOff x="713232" y="1673352"/>
            <a:chExt cx="4828032" cy="3520440"/>
          </a:xfrm>
        </p:grpSpPr>
        <p:sp>
          <p:nvSpPr>
            <p:cNvPr id="343" name="Google Shape;343;p14"/>
            <p:cNvSpPr/>
            <p:nvPr/>
          </p:nvSpPr>
          <p:spPr>
            <a:xfrm>
              <a:off x="713232" y="1673352"/>
              <a:ext cx="4828032" cy="3520440"/>
            </a:xfrm>
            <a:prstGeom prst="rect">
              <a:avLst/>
            </a:prstGeom>
            <a:solidFill>
              <a:srgbClr val="FFFFFF"/>
            </a:solidFill>
            <a:ln cap="flat" cmpd="sng" w="12700">
              <a:solidFill>
                <a:srgbClr val="D7DEE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14"/>
            <p:cNvSpPr/>
            <p:nvPr/>
          </p:nvSpPr>
          <p:spPr>
            <a:xfrm>
              <a:off x="713232" y="1673352"/>
              <a:ext cx="4828032" cy="493776"/>
            </a:xfrm>
            <a:prstGeom prst="rect">
              <a:avLst/>
            </a:prstGeom>
            <a:solidFill>
              <a:srgbClr val="0E7A4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14"/>
            <p:cNvSpPr txBox="1"/>
            <p:nvPr/>
          </p:nvSpPr>
          <p:spPr>
            <a:xfrm>
              <a:off x="969264" y="1792224"/>
              <a:ext cx="4325100" cy="23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52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Conclusão</a:t>
              </a:r>
              <a:endParaRPr/>
            </a:p>
          </p:txBody>
        </p:sp>
        <p:sp>
          <p:nvSpPr>
            <p:cNvPr id="346" name="Google Shape;346;p14"/>
            <p:cNvSpPr/>
            <p:nvPr/>
          </p:nvSpPr>
          <p:spPr>
            <a:xfrm>
              <a:off x="1005840" y="2496312"/>
              <a:ext cx="347472" cy="347472"/>
            </a:xfrm>
            <a:prstGeom prst="rect">
              <a:avLst/>
            </a:prstGeom>
            <a:solidFill>
              <a:srgbClr val="E7F4EE"/>
            </a:solidFill>
            <a:ln cap="flat" cmpd="sng" w="12700">
              <a:solidFill>
                <a:srgbClr val="0E7A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150">
                  <a:solidFill>
                    <a:srgbClr val="0E7A4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/>
            </a:p>
          </p:txBody>
        </p:sp>
        <p:sp>
          <p:nvSpPr>
            <p:cNvPr id="347" name="Google Shape;347;p14"/>
            <p:cNvSpPr txBox="1"/>
            <p:nvPr/>
          </p:nvSpPr>
          <p:spPr>
            <a:xfrm>
              <a:off x="1499616" y="2487168"/>
              <a:ext cx="3749100" cy="19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7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Objetivos propostos</a:t>
              </a:r>
              <a:endParaRPr/>
            </a:p>
          </p:txBody>
        </p:sp>
        <p:sp>
          <p:nvSpPr>
            <p:cNvPr id="348" name="Google Shape;348;p14"/>
            <p:cNvSpPr txBox="1"/>
            <p:nvPr/>
          </p:nvSpPr>
          <p:spPr>
            <a:xfrm>
              <a:off x="1499616" y="2724912"/>
              <a:ext cx="3867900" cy="16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06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O protótipo atingiu os objetivos definidos para o trabalho.</a:t>
              </a:r>
              <a:endParaRPr/>
            </a:p>
          </p:txBody>
        </p:sp>
        <p:cxnSp>
          <p:nvCxnSpPr>
            <p:cNvPr id="349" name="Google Shape;349;p14"/>
            <p:cNvCxnSpPr/>
            <p:nvPr/>
          </p:nvCxnSpPr>
          <p:spPr>
            <a:xfrm>
              <a:off x="1179576" y="2880360"/>
              <a:ext cx="0" cy="310896"/>
            </a:xfrm>
            <a:prstGeom prst="straightConnector1">
              <a:avLst/>
            </a:prstGeom>
            <a:noFill/>
            <a:ln cap="flat" cmpd="sng" w="12700">
              <a:solidFill>
                <a:srgbClr val="B9D8C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50" name="Google Shape;350;p14"/>
            <p:cNvSpPr/>
            <p:nvPr/>
          </p:nvSpPr>
          <p:spPr>
            <a:xfrm>
              <a:off x="1005840" y="3255264"/>
              <a:ext cx="347472" cy="347472"/>
            </a:xfrm>
            <a:prstGeom prst="rect">
              <a:avLst/>
            </a:prstGeom>
            <a:solidFill>
              <a:srgbClr val="E7F4EE"/>
            </a:solidFill>
            <a:ln cap="flat" cmpd="sng" w="12700">
              <a:solidFill>
                <a:srgbClr val="0E7A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150">
                  <a:solidFill>
                    <a:srgbClr val="0E7A4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/>
            </a:p>
          </p:txBody>
        </p:sp>
        <p:sp>
          <p:nvSpPr>
            <p:cNvPr id="351" name="Google Shape;351;p14"/>
            <p:cNvSpPr txBox="1"/>
            <p:nvPr/>
          </p:nvSpPr>
          <p:spPr>
            <a:xfrm>
              <a:off x="1499616" y="3246120"/>
              <a:ext cx="3749100" cy="19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7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Viabilidade funcional</a:t>
              </a:r>
              <a:endParaRPr/>
            </a:p>
          </p:txBody>
        </p:sp>
        <p:sp>
          <p:nvSpPr>
            <p:cNvPr id="352" name="Google Shape;352;p14"/>
            <p:cNvSpPr txBox="1"/>
            <p:nvPr/>
          </p:nvSpPr>
          <p:spPr>
            <a:xfrm>
              <a:off x="1499616" y="3483864"/>
              <a:ext cx="38679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06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Demonstrou o funcionamento do inventário patrimonial baseado em RFID.</a:t>
              </a:r>
              <a:endParaRPr/>
            </a:p>
          </p:txBody>
        </p:sp>
        <p:cxnSp>
          <p:nvCxnSpPr>
            <p:cNvPr id="353" name="Google Shape;353;p14"/>
            <p:cNvCxnSpPr/>
            <p:nvPr/>
          </p:nvCxnSpPr>
          <p:spPr>
            <a:xfrm>
              <a:off x="1179576" y="3639312"/>
              <a:ext cx="0" cy="310896"/>
            </a:xfrm>
            <a:prstGeom prst="straightConnector1">
              <a:avLst/>
            </a:prstGeom>
            <a:noFill/>
            <a:ln cap="flat" cmpd="sng" w="12700">
              <a:solidFill>
                <a:srgbClr val="B9D8C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54" name="Google Shape;354;p14"/>
            <p:cNvSpPr/>
            <p:nvPr/>
          </p:nvSpPr>
          <p:spPr>
            <a:xfrm>
              <a:off x="1005840" y="4014216"/>
              <a:ext cx="347472" cy="347472"/>
            </a:xfrm>
            <a:prstGeom prst="rect">
              <a:avLst/>
            </a:prstGeom>
            <a:solidFill>
              <a:srgbClr val="E7F4EE"/>
            </a:solidFill>
            <a:ln cap="flat" cmpd="sng" w="12700">
              <a:solidFill>
                <a:srgbClr val="0E7A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150">
                  <a:solidFill>
                    <a:srgbClr val="0E7A4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/>
            </a:p>
          </p:txBody>
        </p:sp>
        <p:sp>
          <p:nvSpPr>
            <p:cNvPr id="355" name="Google Shape;355;p14"/>
            <p:cNvSpPr txBox="1"/>
            <p:nvPr/>
          </p:nvSpPr>
          <p:spPr>
            <a:xfrm>
              <a:off x="1499616" y="4005072"/>
              <a:ext cx="3749100" cy="19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7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Apoio à auditoria</a:t>
              </a:r>
              <a:endParaRPr/>
            </a:p>
          </p:txBody>
        </p:sp>
        <p:sp>
          <p:nvSpPr>
            <p:cNvPr id="356" name="Google Shape;356;p14"/>
            <p:cNvSpPr txBox="1"/>
            <p:nvPr/>
          </p:nvSpPr>
          <p:spPr>
            <a:xfrm>
              <a:off x="1499616" y="4242816"/>
              <a:ext cx="38679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t-BR" sz="1060">
                  <a:solidFill>
                    <a:srgbClr val="52616D"/>
                  </a:solidFill>
                  <a:latin typeface="Arial"/>
                  <a:ea typeface="Arial"/>
                  <a:cs typeface="Arial"/>
                  <a:sym typeface="Arial"/>
                </a:rPr>
                <a:t>A arquitetura integrou interface, backend e persistência para apoiar a auditoria patrimonial.</a:t>
              </a:r>
              <a:endParaRPr/>
            </a:p>
          </p:txBody>
        </p:sp>
      </p:grpSp>
      <p:grpSp>
        <p:nvGrpSpPr>
          <p:cNvPr id="357" name="Google Shape;357;p14"/>
          <p:cNvGrpSpPr/>
          <p:nvPr/>
        </p:nvGrpSpPr>
        <p:grpSpPr>
          <a:xfrm>
            <a:off x="6821615" y="1984252"/>
            <a:ext cx="4343400" cy="3520500"/>
            <a:chOff x="5806440" y="1673352"/>
            <a:chExt cx="4343400" cy="3520500"/>
          </a:xfrm>
        </p:grpSpPr>
        <p:sp>
          <p:nvSpPr>
            <p:cNvPr id="358" name="Google Shape;358;p14"/>
            <p:cNvSpPr/>
            <p:nvPr/>
          </p:nvSpPr>
          <p:spPr>
            <a:xfrm>
              <a:off x="5806440" y="1673352"/>
              <a:ext cx="4343400" cy="3520500"/>
            </a:xfrm>
            <a:prstGeom prst="rect">
              <a:avLst/>
            </a:prstGeom>
            <a:solidFill>
              <a:srgbClr val="FFFFFF"/>
            </a:solidFill>
            <a:ln cap="flat" cmpd="sng" w="12700">
              <a:solidFill>
                <a:srgbClr val="D7DEE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" name="Google Shape;359;p14"/>
            <p:cNvSpPr/>
            <p:nvPr/>
          </p:nvSpPr>
          <p:spPr>
            <a:xfrm>
              <a:off x="5806440" y="1673352"/>
              <a:ext cx="4343400" cy="493776"/>
            </a:xfrm>
            <a:prstGeom prst="rect">
              <a:avLst/>
            </a:prstGeom>
            <a:solidFill>
              <a:srgbClr val="FFF4C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4"/>
            <p:cNvSpPr txBox="1"/>
            <p:nvPr/>
          </p:nvSpPr>
          <p:spPr>
            <a:xfrm>
              <a:off x="6062472" y="1792224"/>
              <a:ext cx="3840600" cy="23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520">
                  <a:solidFill>
                    <a:srgbClr val="6B4B00"/>
                  </a:solidFill>
                  <a:latin typeface="Arial"/>
                  <a:ea typeface="Arial"/>
                  <a:cs typeface="Arial"/>
                  <a:sym typeface="Arial"/>
                </a:rPr>
                <a:t>Trabalhos futuros</a:t>
              </a:r>
              <a:endParaRPr/>
            </a:p>
          </p:txBody>
        </p:sp>
        <p:cxnSp>
          <p:nvCxnSpPr>
            <p:cNvPr id="361" name="Google Shape;361;p14"/>
            <p:cNvCxnSpPr/>
            <p:nvPr/>
          </p:nvCxnSpPr>
          <p:spPr>
            <a:xfrm>
              <a:off x="6373368" y="2724912"/>
              <a:ext cx="0" cy="2057400"/>
            </a:xfrm>
            <a:prstGeom prst="straightConnector1">
              <a:avLst/>
            </a:prstGeom>
            <a:noFill/>
            <a:ln cap="flat" cmpd="sng" w="13950">
              <a:solidFill>
                <a:srgbClr val="E7C86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62" name="Google Shape;362;p14"/>
            <p:cNvSpPr/>
            <p:nvPr/>
          </p:nvSpPr>
          <p:spPr>
            <a:xfrm>
              <a:off x="6199632" y="2542032"/>
              <a:ext cx="347472" cy="347472"/>
            </a:xfrm>
            <a:prstGeom prst="rect">
              <a:avLst/>
            </a:prstGeom>
            <a:solidFill>
              <a:srgbClr val="FFFFFF"/>
            </a:solidFill>
            <a:ln cap="flat" cmpd="sng" w="12700">
              <a:solidFill>
                <a:srgbClr val="D8A2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100">
                  <a:solidFill>
                    <a:srgbClr val="9A6A00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/>
            </a:p>
          </p:txBody>
        </p:sp>
        <p:sp>
          <p:nvSpPr>
            <p:cNvPr id="363" name="Google Shape;363;p14"/>
            <p:cNvSpPr txBox="1"/>
            <p:nvPr/>
          </p:nvSpPr>
          <p:spPr>
            <a:xfrm>
              <a:off x="6720840" y="2569464"/>
              <a:ext cx="3063300" cy="19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7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Testes com múltiplas tags</a:t>
              </a:r>
              <a:endParaRPr/>
            </a:p>
          </p:txBody>
        </p:sp>
        <p:sp>
          <p:nvSpPr>
            <p:cNvPr id="364" name="Google Shape;364;p14"/>
            <p:cNvSpPr/>
            <p:nvPr/>
          </p:nvSpPr>
          <p:spPr>
            <a:xfrm>
              <a:off x="6199632" y="3163824"/>
              <a:ext cx="347472" cy="347472"/>
            </a:xfrm>
            <a:prstGeom prst="rect">
              <a:avLst/>
            </a:prstGeom>
            <a:solidFill>
              <a:srgbClr val="FFFFFF"/>
            </a:solidFill>
            <a:ln cap="flat" cmpd="sng" w="12700">
              <a:solidFill>
                <a:srgbClr val="D8A2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100">
                  <a:solidFill>
                    <a:srgbClr val="9A6A00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/>
            </a:p>
          </p:txBody>
        </p:sp>
        <p:sp>
          <p:nvSpPr>
            <p:cNvPr id="365" name="Google Shape;365;p14"/>
            <p:cNvSpPr txBox="1"/>
            <p:nvPr/>
          </p:nvSpPr>
          <p:spPr>
            <a:xfrm>
              <a:off x="6720840" y="3191256"/>
              <a:ext cx="3063300" cy="19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7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Leitores de maior alcance</a:t>
              </a:r>
              <a:endParaRPr/>
            </a:p>
          </p:txBody>
        </p:sp>
        <p:sp>
          <p:nvSpPr>
            <p:cNvPr id="366" name="Google Shape;366;p14"/>
            <p:cNvSpPr/>
            <p:nvPr/>
          </p:nvSpPr>
          <p:spPr>
            <a:xfrm>
              <a:off x="6199632" y="3785616"/>
              <a:ext cx="347472" cy="347472"/>
            </a:xfrm>
            <a:prstGeom prst="rect">
              <a:avLst/>
            </a:prstGeom>
            <a:solidFill>
              <a:srgbClr val="FFFFFF"/>
            </a:solidFill>
            <a:ln cap="flat" cmpd="sng" w="12700">
              <a:solidFill>
                <a:srgbClr val="D8A2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100">
                  <a:solidFill>
                    <a:srgbClr val="9A6A00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/>
            </a:p>
          </p:txBody>
        </p:sp>
        <p:sp>
          <p:nvSpPr>
            <p:cNvPr id="367" name="Google Shape;367;p14"/>
            <p:cNvSpPr txBox="1"/>
            <p:nvPr/>
          </p:nvSpPr>
          <p:spPr>
            <a:xfrm>
              <a:off x="6720840" y="3813048"/>
              <a:ext cx="3063300" cy="19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7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Integração com gateways/sensores</a:t>
              </a:r>
              <a:endParaRPr/>
            </a:p>
          </p:txBody>
        </p:sp>
        <p:sp>
          <p:nvSpPr>
            <p:cNvPr id="368" name="Google Shape;368;p14"/>
            <p:cNvSpPr/>
            <p:nvPr/>
          </p:nvSpPr>
          <p:spPr>
            <a:xfrm>
              <a:off x="6199632" y="4407408"/>
              <a:ext cx="347472" cy="347472"/>
            </a:xfrm>
            <a:prstGeom prst="rect">
              <a:avLst/>
            </a:prstGeom>
            <a:solidFill>
              <a:srgbClr val="FFFFFF"/>
            </a:solidFill>
            <a:ln cap="flat" cmpd="sng" w="12700">
              <a:solidFill>
                <a:srgbClr val="D8A2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100">
                  <a:solidFill>
                    <a:srgbClr val="9A6A00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/>
            </a:p>
          </p:txBody>
        </p:sp>
        <p:sp>
          <p:nvSpPr>
            <p:cNvPr id="369" name="Google Shape;369;p14"/>
            <p:cNvSpPr txBox="1"/>
            <p:nvPr/>
          </p:nvSpPr>
          <p:spPr>
            <a:xfrm>
              <a:off x="6720840" y="4434840"/>
              <a:ext cx="3063300" cy="19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70">
                  <a:solidFill>
                    <a:srgbClr val="0B1720"/>
                  </a:solidFill>
                  <a:latin typeface="Arial"/>
                  <a:ea typeface="Arial"/>
                  <a:cs typeface="Arial"/>
                  <a:sym typeface="Arial"/>
                </a:rPr>
                <a:t>Relatórios e métricas de auditoria</a:t>
              </a: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378" name="Google Shape;378;p15"/>
          <p:cNvSpPr/>
          <p:nvPr/>
        </p:nvSpPr>
        <p:spPr>
          <a:xfrm>
            <a:off x="723900" y="658368"/>
            <a:ext cx="1028700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80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Referências principais</a:t>
            </a:r>
            <a:endParaRPr/>
          </a:p>
        </p:txBody>
      </p:sp>
      <p:sp>
        <p:nvSpPr>
          <p:cNvPr id="379" name="Google Shape;379;p15"/>
          <p:cNvSpPr/>
          <p:nvPr/>
        </p:nvSpPr>
        <p:spPr>
          <a:xfrm>
            <a:off x="914400" y="1929384"/>
            <a:ext cx="114300" cy="1143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1162050" y="1847088"/>
            <a:ext cx="9525000" cy="237744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2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ALWADI et al. RFID smart inventory management system: A survey.</a:t>
            </a:r>
            <a:endParaRPr/>
          </a:p>
        </p:txBody>
      </p:sp>
      <p:sp>
        <p:nvSpPr>
          <p:cNvPr id="381" name="Google Shape;381;p15"/>
          <p:cNvSpPr/>
          <p:nvPr/>
        </p:nvSpPr>
        <p:spPr>
          <a:xfrm>
            <a:off x="914400" y="2386584"/>
            <a:ext cx="114300" cy="1143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1162050" y="2304288"/>
            <a:ext cx="9525000" cy="237744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2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ABIJÁUDE et al. Plataforma InventoryIoT para inventário automatizado.</a:t>
            </a:r>
            <a:endParaRPr/>
          </a:p>
        </p:txBody>
      </p:sp>
      <p:sp>
        <p:nvSpPr>
          <p:cNvPr id="383" name="Google Shape;383;p15"/>
          <p:cNvSpPr/>
          <p:nvPr/>
        </p:nvSpPr>
        <p:spPr>
          <a:xfrm>
            <a:off x="914400" y="2843784"/>
            <a:ext cx="114300" cy="1143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1162050" y="2761488"/>
            <a:ext cx="9525000" cy="237744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2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BRITO et al. Etiquetas inteligentes na gestão patrimonial pública.</a:t>
            </a:r>
            <a:endParaRPr/>
          </a:p>
        </p:txBody>
      </p:sp>
      <p:sp>
        <p:nvSpPr>
          <p:cNvPr id="385" name="Google Shape;385;p15"/>
          <p:cNvSpPr/>
          <p:nvPr/>
        </p:nvSpPr>
        <p:spPr>
          <a:xfrm>
            <a:off x="914400" y="3300984"/>
            <a:ext cx="114300" cy="1143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1162050" y="3218688"/>
            <a:ext cx="9525000" cy="237744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2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MASHAYEKHY et al. Impact of Internet of Things on inventory management.</a:t>
            </a:r>
            <a:endParaRPr/>
          </a:p>
        </p:txBody>
      </p:sp>
      <p:sp>
        <p:nvSpPr>
          <p:cNvPr id="387" name="Google Shape;387;p15"/>
          <p:cNvSpPr/>
          <p:nvPr/>
        </p:nvSpPr>
        <p:spPr>
          <a:xfrm>
            <a:off x="914400" y="3758184"/>
            <a:ext cx="114300" cy="1143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1162050" y="3675888"/>
            <a:ext cx="9525000" cy="237744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2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TING et al. A framework for RFID implementation in inventory management.</a:t>
            </a:r>
            <a:endParaRPr/>
          </a:p>
        </p:txBody>
      </p:sp>
      <p:sp>
        <p:nvSpPr>
          <p:cNvPr id="389" name="Google Shape;389;p15"/>
          <p:cNvSpPr/>
          <p:nvPr/>
        </p:nvSpPr>
        <p:spPr>
          <a:xfrm>
            <a:off x="914400" y="4215384"/>
            <a:ext cx="114300" cy="1143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1162050" y="4133088"/>
            <a:ext cx="9525000" cy="237744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2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KNAPP; WANG. Interference in RFID installations.</a:t>
            </a:r>
            <a:endParaRPr/>
          </a:p>
        </p:txBody>
      </p:sp>
      <p:sp>
        <p:nvSpPr>
          <p:cNvPr id="391" name="Google Shape;391;p15"/>
          <p:cNvSpPr/>
          <p:nvPr/>
        </p:nvSpPr>
        <p:spPr>
          <a:xfrm>
            <a:off x="914400" y="4672584"/>
            <a:ext cx="114300" cy="114300"/>
          </a:xfrm>
          <a:prstGeom prst="ellipse">
            <a:avLst/>
          </a:prstGeom>
          <a:solidFill>
            <a:srgbClr val="0E7A4F"/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1162050" y="4590288"/>
            <a:ext cx="9525000" cy="237744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2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Tribunal de Contas do Estado da Bahia. Orientações para controle patrimonial.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B"/>
          </a:solidFill>
          <a:ln cap="flat" cmpd="sng" w="9525">
            <a:solidFill>
              <a:srgbClr val="F7F9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6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E7A4F"/>
          </a:solidFill>
          <a:ln cap="flat" cmpd="sng" w="9525">
            <a:solidFill>
              <a:srgbClr val="0E7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6"/>
          <p:cNvSpPr txBox="1"/>
          <p:nvPr/>
        </p:nvSpPr>
        <p:spPr>
          <a:xfrm>
            <a:off x="11334750" y="6191250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1606F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cxnSp>
        <p:nvCxnSpPr>
          <p:cNvPr id="400" name="Google Shape;400;p16"/>
          <p:cNvCxnSpPr/>
          <p:nvPr/>
        </p:nvCxnSpPr>
        <p:spPr>
          <a:xfrm>
            <a:off x="822960" y="1143000"/>
            <a:ext cx="9372600" cy="0"/>
          </a:xfrm>
          <a:prstGeom prst="straightConnector1">
            <a:avLst/>
          </a:prstGeom>
          <a:noFill/>
          <a:ln cap="flat" cmpd="sng" w="1270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01" name="Google Shape;401;p16"/>
          <p:cNvCxnSpPr/>
          <p:nvPr/>
        </p:nvCxnSpPr>
        <p:spPr>
          <a:xfrm>
            <a:off x="822960" y="5285232"/>
            <a:ext cx="9372600" cy="0"/>
          </a:xfrm>
          <a:prstGeom prst="straightConnector1">
            <a:avLst/>
          </a:prstGeom>
          <a:noFill/>
          <a:ln cap="flat" cmpd="sng" w="12700">
            <a:solidFill>
              <a:srgbClr val="D7DEE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16"/>
          <p:cNvSpPr txBox="1"/>
          <p:nvPr/>
        </p:nvSpPr>
        <p:spPr>
          <a:xfrm>
            <a:off x="868680" y="1719072"/>
            <a:ext cx="9418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460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Obrigado!</a:t>
            </a:r>
            <a:endParaRPr/>
          </a:p>
        </p:txBody>
      </p:sp>
      <p:sp>
        <p:nvSpPr>
          <p:cNvPr id="403" name="Google Shape;403;p16"/>
          <p:cNvSpPr txBox="1"/>
          <p:nvPr/>
        </p:nvSpPr>
        <p:spPr>
          <a:xfrm>
            <a:off x="2331720" y="2633472"/>
            <a:ext cx="6492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800">
                <a:solidFill>
                  <a:srgbClr val="52616D"/>
                </a:solidFill>
                <a:latin typeface="Arial"/>
                <a:ea typeface="Arial"/>
                <a:cs typeface="Arial"/>
                <a:sym typeface="Arial"/>
              </a:rPr>
              <a:t>Dúvidas e contribuições</a:t>
            </a:r>
            <a:r>
              <a:rPr lang="pt-BR" sz="1800">
                <a:solidFill>
                  <a:srgbClr val="52616D"/>
                </a:solidFill>
              </a:rPr>
              <a:t>?</a:t>
            </a:r>
            <a:endParaRPr/>
          </a:p>
        </p:txBody>
      </p:sp>
      <p:sp>
        <p:nvSpPr>
          <p:cNvPr id="404" name="Google Shape;404;p16"/>
          <p:cNvSpPr/>
          <p:nvPr/>
        </p:nvSpPr>
        <p:spPr>
          <a:xfrm>
            <a:off x="4261104" y="3246120"/>
            <a:ext cx="2633472" cy="73152"/>
          </a:xfrm>
          <a:prstGeom prst="rect">
            <a:avLst/>
          </a:prstGeom>
          <a:solidFill>
            <a:srgbClr val="0E7A4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6"/>
          <p:cNvSpPr txBox="1"/>
          <p:nvPr/>
        </p:nvSpPr>
        <p:spPr>
          <a:xfrm>
            <a:off x="1965960" y="3822191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50">
                <a:solidFill>
                  <a:srgbClr val="0B1720"/>
                </a:solidFill>
                <a:latin typeface="Arial"/>
                <a:ea typeface="Arial"/>
                <a:cs typeface="Arial"/>
                <a:sym typeface="Arial"/>
              </a:rPr>
              <a:t>Ezequiel Lobo Oliveira</a:t>
            </a:r>
            <a:endParaRPr/>
          </a:p>
        </p:txBody>
      </p:sp>
      <p:sp>
        <p:nvSpPr>
          <p:cNvPr id="406" name="Google Shape;406;p16"/>
          <p:cNvSpPr txBox="1"/>
          <p:nvPr/>
        </p:nvSpPr>
        <p:spPr>
          <a:xfrm>
            <a:off x="1691640" y="418795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60">
                <a:solidFill>
                  <a:srgbClr val="52616D"/>
                </a:solidFill>
                <a:latin typeface="Arial"/>
                <a:ea typeface="Arial"/>
                <a:cs typeface="Arial"/>
                <a:sym typeface="Arial"/>
              </a:rPr>
              <a:t>Bacharelado em Ciência da Computação  •  Universidade Estadual de Santa Cruz</a:t>
            </a:r>
            <a:endParaRPr/>
          </a:p>
        </p:txBody>
      </p:sp>
      <p:sp>
        <p:nvSpPr>
          <p:cNvPr id="407" name="Google Shape;407;p16"/>
          <p:cNvSpPr txBox="1"/>
          <p:nvPr/>
        </p:nvSpPr>
        <p:spPr>
          <a:xfrm>
            <a:off x="3063240" y="4700016"/>
            <a:ext cx="5029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40">
                <a:solidFill>
                  <a:srgbClr val="0E7A4F"/>
                </a:solidFill>
                <a:latin typeface="Arial"/>
                <a:ea typeface="Arial"/>
                <a:cs typeface="Arial"/>
                <a:sym typeface="Arial"/>
              </a:rPr>
              <a:t>Deploy: https://inventory-rfid.vercel.app/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