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0d3ec32830b4574" Type="http://schemas.openxmlformats.org/officeDocument/2006/relationships/officeDocument" Target="ppt/presentation.xml"/><Relationship Id="Ra2c1c087ce1644c4" Type="http://schemas.openxmlformats.org/package/2006/relationships/metadata/core-properties" Target="docProps/core.xml"/><Relationship Id="Rdf4b7d9ac23540fd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c66585e71f4a07"/>
  </p:sldMasterIdLst>
  <p:notesMasterIdLst>
    <p:notesMasterId xmlns:r="http://schemas.openxmlformats.org/officeDocument/2006/relationships" r:id="R8f9e1bb6df2a4f11"/>
  </p:notesMasterIdLst>
  <p:sldIdLst>
    <p:sldId xmlns:r="http://schemas.openxmlformats.org/officeDocument/2006/relationships" id="256" r:id="Rcbe4a25dede7468a"/>
    <p:sldId xmlns:r="http://schemas.openxmlformats.org/officeDocument/2006/relationships" id="257" r:id="R2620953277824f5b"/>
    <p:sldId xmlns:r="http://schemas.openxmlformats.org/officeDocument/2006/relationships" id="258" r:id="R7080d4faa01b4f3a"/>
    <p:sldId xmlns:r="http://schemas.openxmlformats.org/officeDocument/2006/relationships" id="259" r:id="R76574f0e1217442f"/>
    <p:sldId xmlns:r="http://schemas.openxmlformats.org/officeDocument/2006/relationships" id="260" r:id="R989dbef39f674f1d"/>
    <p:sldId xmlns:r="http://schemas.openxmlformats.org/officeDocument/2006/relationships" id="261" r:id="Rf25e841e36ea4bcd"/>
    <p:sldId xmlns:r="http://schemas.openxmlformats.org/officeDocument/2006/relationships" id="262" r:id="R2b486b647cd84cc4"/>
    <p:sldId xmlns:r="http://schemas.openxmlformats.org/officeDocument/2006/relationships" id="264" r:id="R70131062dcbc4dd6"/>
    <p:sldId xmlns:r="http://schemas.openxmlformats.org/officeDocument/2006/relationships" id="265" r:id="R6037f662059f4f80"/>
    <p:sldId xmlns:r="http://schemas.openxmlformats.org/officeDocument/2006/relationships" id="268" r:id="RinventoryrfidDemo"/>
    <p:sldId xmlns:r="http://schemas.openxmlformats.org/officeDocument/2006/relationships" id="271" r:id="R6bd9a81182ae405f"/>
    <p:sldId xmlns:r="http://schemas.openxmlformats.org/officeDocument/2006/relationships" id="272" r:id="R7f4c97b39257499b"/>
    <p:sldId xmlns:r="http://schemas.openxmlformats.org/officeDocument/2006/relationships" id="274" r:id="Rce06c3893bfe4573"/>
    <p:sldId xmlns:r="http://schemas.openxmlformats.org/officeDocument/2006/relationships" id="275" r:id="RinventoryrfidThanks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2620953277824f5b" Type="http://schemas.openxmlformats.org/officeDocument/2006/relationships/slide" Target="slides/slide2.xml"/><Relationship Id="R2b486b647cd84cc4" Type="http://schemas.openxmlformats.org/officeDocument/2006/relationships/slide" Target="slides/slide7.xml"/><Relationship Id="R366eda3d51f24099" Type="http://schemas.openxmlformats.org/officeDocument/2006/relationships/presProps" Target="presProps.xml"/><Relationship Id="R6037f662059f4f80" Type="http://schemas.openxmlformats.org/officeDocument/2006/relationships/slide" Target="slides/slide9.xml"/><Relationship Id="R6bd9a81182ae405f" Type="http://schemas.openxmlformats.org/officeDocument/2006/relationships/slide" Target="slides/slide11.xml"/><Relationship Id="R70131062dcbc4dd6" Type="http://schemas.openxmlformats.org/officeDocument/2006/relationships/slide" Target="slides/slide8.xml"/><Relationship Id="R7080d4faa01b4f3a" Type="http://schemas.openxmlformats.org/officeDocument/2006/relationships/slide" Target="slides/slide3.xml"/><Relationship Id="R76574f0e1217442f" Type="http://schemas.openxmlformats.org/officeDocument/2006/relationships/slide" Target="slides/slide4.xml"/><Relationship Id="R769483bcff9e44c6" Type="http://schemas.openxmlformats.org/officeDocument/2006/relationships/viewProps" Target="viewProps.xml"/><Relationship Id="R7f4c97b39257499b" Type="http://schemas.openxmlformats.org/officeDocument/2006/relationships/slide" Target="slides/slide12.xml"/><Relationship Id="R8f9e1bb6df2a4f11" Type="http://schemas.openxmlformats.org/officeDocument/2006/relationships/notesMaster" Target="notesMasters/notesMaster1.xml"/><Relationship Id="R989dbef39f674f1d" Type="http://schemas.openxmlformats.org/officeDocument/2006/relationships/slide" Target="slides/slide5.xml"/><Relationship Id="Rbd77845fcb9a405f" Type="http://schemas.openxmlformats.org/officeDocument/2006/relationships/theme" Target="theme/theme1.xml"/><Relationship Id="Rc80ff7e1e0b040e8" Type="http://schemas.openxmlformats.org/officeDocument/2006/relationships/tableStyles" Target="tableStyles.xml"/><Relationship Id="Rc8c66585e71f4a07" Type="http://schemas.openxmlformats.org/officeDocument/2006/relationships/slideMaster" Target="slideMasters/slideMaster1.xml"/><Relationship Id="Rcbe4a25dede7468a" Type="http://schemas.openxmlformats.org/officeDocument/2006/relationships/slide" Target="slides/slide1.xml"/><Relationship Id="Rce06c3893bfe4573" Type="http://schemas.openxmlformats.org/officeDocument/2006/relationships/slide" Target="slides/slide14.xml"/><Relationship Id="Rf25e841e36ea4bcd" Type="http://schemas.openxmlformats.org/officeDocument/2006/relationships/slide" Target="slides/slide6.xml"/><Relationship Id="RinventoryrfidDemo" Type="http://schemas.openxmlformats.org/officeDocument/2006/relationships/slide" Target="slides/slide10.xml"/><Relationship Id="RinventoryrfidThanks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702f78e83f154e6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fa6f9eed6fd4e56" Type="http://schemas.openxmlformats.org/officeDocument/2006/relationships/slide" Target="../slides/slide1.xml"/><Relationship Id="Ra1793cb682d94cd5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de04a0f14c894411" Type="http://schemas.openxmlformats.org/officeDocument/2006/relationships/slide" Target="../slides/slide2.xml"/><Relationship Id="Rf85ea0bf11c64f64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807e212bb1fa44b4" Type="http://schemas.openxmlformats.org/officeDocument/2006/relationships/slide" Target="../slides/slide3.xml"/><Relationship Id="R81ad36e824c0463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1ce0144812e04e5b" Type="http://schemas.openxmlformats.org/officeDocument/2006/relationships/slide" Target="../slides/slide4.xml"/><Relationship Id="R4c093f191b464a67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c932fdc3c4449be" Type="http://schemas.openxmlformats.org/officeDocument/2006/relationships/slide" Target="../slides/slide5.xml"/><Relationship Id="R7f814784a5834adf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fbd7958feef415e" Type="http://schemas.openxmlformats.org/officeDocument/2006/relationships/slide" Target="../slides/slide6.xml"/><Relationship Id="Rc14d07d970bb463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d12b230693d4353" Type="http://schemas.openxmlformats.org/officeDocument/2006/relationships/notesMaster" Target="../notesMasters/notesMaster1.xml"/><Relationship Id="R9f8ea2c324b1440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5f2956dae6334d52" Type="http://schemas.openxmlformats.org/officeDocument/2006/relationships/slide" Target="../slides/slide8.xml"/><Relationship Id="R98d74baabb2c4ac7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b95da839b30347ff" Type="http://schemas.openxmlformats.org/officeDocument/2006/relationships/slide" Target="../slides/slide9.xml"/><Relationship Id="Re7847cd82ae74b9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cb9166a35675471d" Type="http://schemas.openxmlformats.org/officeDocument/2006/relationships/slide" Target="../slides/slide11.xml"/><Relationship Id="Rcdcf335c19c7409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a2b806e9ca3545c3" Type="http://schemas.openxmlformats.org/officeDocument/2006/relationships/slide" Target="../slides/slide12.xml"/><Relationship Id="Rf204bd6b97e6418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3516e8541f184ff8" Type="http://schemas.openxmlformats.org/officeDocument/2006/relationships/notesMaster" Target="../notesMasters/notesMaster1.xml"/><Relationship Id="R4f45ee947df44cd6" Type="http://schemas.openxmlformats.org/officeDocument/2006/relationships/slide" Target="../slides/slide14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9d2efd95f69a428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172e2f5e0ab4a2a" Type="http://schemas.openxmlformats.org/officeDocument/2006/relationships/theme" Target="theme/theme2.xml"/><Relationship Id="R6c691453be8843f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691453be8843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14e8faa79d74062" Type="http://schemas.openxmlformats.org/officeDocument/2006/relationships/image" Target="../media/image.png"/><Relationship Id="Raa9acfe9e47d4cd1" Type="http://schemas.openxmlformats.org/officeDocument/2006/relationships/slideLayout" Target="../slideLayouts/slideLayout1.xml"/><Relationship Id="Re9e5a090c2e1447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8ef34aaeb1941a5" Type="http://schemas.openxmlformats.org/officeDocument/2006/relationships/notesSlide" Target="../notesSlides/notesSlide2.xml"/><Relationship Id="Re5ad353bb65e453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b8cdef7b0344074" Type="http://schemas.openxmlformats.org/officeDocument/2006/relationships/slideLayout" Target="../slideLayouts/slideLayout1.xml"/><Relationship Id="Rc3e5e6e5667649b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5002d97923864d51" Type="http://schemas.openxmlformats.org/officeDocument/2006/relationships/slideLayout" Target="../slideLayouts/slideLayout1.xml"/><Relationship Id="R8af6f38bdcb6475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5fc4fa0b0d3e4e64" Type="http://schemas.openxmlformats.org/officeDocument/2006/relationships/notesSlide" Target="../notesSlides/notesSlide5.xml"/><Relationship Id="Rb21343408ff1467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892f3fe148de4e2d" Type="http://schemas.openxmlformats.org/officeDocument/2006/relationships/slideLayout" Target="../slideLayouts/slideLayout1.xml"/><Relationship Id="R93b32b03506b4e8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bdf397f2f11a45eb" Type="http://schemas.openxmlformats.org/officeDocument/2006/relationships/notesSlide" Target="../notesSlides/notesSlide7.xml"/><Relationship Id="Rec88c93b973e4797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58d2d393361f4bff" Type="http://schemas.openxmlformats.org/officeDocument/2006/relationships/notesSlide" Target="../notesSlides/notesSlide9.xml"/><Relationship Id="Rb095d5acb2ac4987" Type="http://schemas.openxmlformats.org/officeDocument/2006/relationships/slideLayout" Target="../slideLayouts/slideLayout1.xml"/><Relationship Id="Rff19d7f6e0264e40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26aa704295f74b9d" Type="http://schemas.openxmlformats.org/officeDocument/2006/relationships/notesSlide" Target="../notesSlides/notesSlide10.xml"/><Relationship Id="R2ac2724beea74b74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nventory-rfid.vercel.app/" TargetMode="External"/></Relationships>
</file>

<file path=ppt/slides/_rels/slide11.xml.rels><?xml version='1.0' encoding='UTF-8' standalone='yes'?>
<Relationships xmlns="http://schemas.openxmlformats.org/package/2006/relationships"><Relationship Id="R7e8a81c9772d4d70" Type="http://schemas.openxmlformats.org/officeDocument/2006/relationships/slideLayout" Target="../slideLayouts/slideLayout1.xml"/><Relationship Id="Re456a81cf3234aec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38e8d02b72bf4b17" Type="http://schemas.openxmlformats.org/officeDocument/2006/relationships/slideLayout" Target="../slideLayouts/slideLayout1.xml"/><Relationship Id="Rb78efb78545c421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0637a92a3b7e46f5" Type="http://schemas.openxmlformats.org/officeDocument/2006/relationships/slideLayout" Target="../slideLayouts/slideLayout1.xml"/><Relationship Id="R41dbe8d9fa734c5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9C2F0E-DCE5-4718-84C0-A22E04EC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DC768D-4514-4064-8A78-E697B873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78B27-3075-485C-B72D-F8F3DB85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4575F-CD91-4C3E-AB07-39C4A4A6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17BDE-C4C7-48C3-AC5E-A0F28BDC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95400"/>
            <a:ext cx="910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7960E-B632-4309-82C9-85CA0208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24550"/>
            <a:ext cx="1042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e8faa79d74062"/>
          <a:stretch xmlns:a="http://schemas.openxmlformats.org/drawingml/2006/main"/>
        </p:blipFill>
        <p:spPr>
          <a:xfrm xmlns:a="http://schemas.openxmlformats.org/drawingml/2006/main">
            <a:off x="10093459" y="438150"/>
            <a:ext cx="615681" cy="781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BC409-5DD2-413C-8C37-2FC5C654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1440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Universidade Estadual de Santa Cruz - UESC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D0D6C6-47DB-4195-8FBA-815BC2AD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9944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Sistema de inventário baseado em tecnologia RFID para o Colegiado de Ciência da Computação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39FB1-41B9-463A-88EF-AED4BF6B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433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Ezequiel Lobo Oliveira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165F95-DF20-46E1-8628-6B3321FD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610100"/>
            <a:ext cx="628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Orientador: Jorge Lima de Oliveira Filho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BE39E-15A1-4DC1-80A4-C7305B9C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53150"/>
            <a:ext cx="447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Bacharelado em Ciência da Computação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900F02-C01A-48E1-B851-B2777C96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1531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Ilhéus - Bahia, 2026</a:t>
            </a:r>
          </a:p>
        </p:txBody>
      </p:sp>
    </p:spTree>
    <p:extLst>
      <p:ext uri="{BB962C8B-B14F-4D97-AF65-F5344CB8AC3E}">
        <p14:creationId xmlns:p14="http://schemas.microsoft.com/office/powerpoint/2010/main" val="20322804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58A561-96BB-4727-8B31-E0F563D9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43C79-4470-4699-99A2-7EB60A34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CEAD6-5B21-4525-A2A1-3E990811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EE5E7-1C6E-46A6-A7F1-588CAF12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Contexto do trabalho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F7F4E-102C-452B-974A-2D083024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controle patrimonial no colegiado exige rastreabilidade entre registros administrativos e bens fisicamente encontrados.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E2E6B7-ABE8-4112-B054-EFBBC3AE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24F918-CC13-4332-9E8B-5F88066A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Equipamentos ficam distribuídos entre laboratórios, salas administrativas e espaços compartilhados.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5ADA0-C501-4A7E-9F0F-37725425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0F9F68-4617-497D-A40B-4D7D606D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conferência patrimonial precisa indicar onde o bem deveria estar e o que foi observado no ambiente.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ABF093-2F8D-44A8-AA57-CB755EFD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95871-9BEE-4E73-AD6A-92A53B07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Essa relação exige organização para apoiar inventário, auditoria e acompanhamento patrimonial.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3F14C-F960-4284-A423-3E104407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2E6DAD-EA31-48F9-B189-BDD38F2D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Registro administrativo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BA5736-1B14-41A9-8159-4ED1A753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informação esperada sobre o bem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DC11A5-4E25-4F6D-8B00-4989A446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46847E-C2B4-44E9-B50F-088B3C01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Conferência física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664C2-95A0-4362-970C-2DFE0F67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situação observada no ambiente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834C67-6467-495B-BD6D-65F9B7D0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BF16AC-A352-400F-BE2F-DED355782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Rastreabilidade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9CB685-5C75-44FE-A186-7296D000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histórico para análise patrimonial</a:t>
            </a:r>
          </a:p>
        </p:txBody>
      </p:sp>
    </p:spTree>
    <p:extLst>
      <p:ext uri="{BB962C8B-B14F-4D97-AF65-F5344CB8AC3E}">
        <p14:creationId xmlns:p14="http://schemas.microsoft.com/office/powerpoint/2010/main" val="11885683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B8D409-BE61-4FE5-BE98-AD650916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19889-2EF5-4879-B6D3-8D84D1E3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449D1-DA99-4FE4-B409-C126B2C1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6EF13-C018-4DBF-839D-BE13FD5C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Problema observado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36727-70EF-4516-8D90-D3AB6D69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dificuldade central está em manter os registros patrimoniais alinhados à situação real dos bens.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5991E9-123C-47B4-BD77-977A4FD4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27EF5-D26D-4179-A9E5-27C172C7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conferência visual ou manual depende de verificação individual e atualização constante.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E7CDBC-D7B0-4E6F-9D9A-1DFC0893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43B7E-AF93-4928-BFD6-41E329F1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Bens podem não ser localizados ou aparecer em local diferente do registrado.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18350B-7C16-4BE2-A242-44C4B814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A6FAB3-9C12-48BF-A4A6-F39BD3D0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Sem tratamento organizado, essas divergências dificultam a conferência e a tomada de decisão patrimonial.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D2B1B7-D8BC-492C-BD97-3553BB1F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25B227-B975-4C03-8F2E-D5D246BA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Registro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B76733-7551-42B3-84C5-9434C743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informação administrativa do bem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65982E-C0E9-45F9-934F-ED2156CD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9CC3ED-CF0A-42DE-90B8-A3F44C71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Localização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8B5D49-C52E-40B9-9381-F610D7AA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situação observada na conferência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63A907-35C5-4ABF-B1DE-791A6AC6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D35293-63E4-4E00-9DA8-EDBAAAF9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Divergência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969022-9D47-4977-A87D-9257A64C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diferença a ser analisada</a:t>
            </a:r>
          </a:p>
        </p:txBody>
      </p:sp>
    </p:spTree>
    <p:extLst>
      <p:ext uri="{BB962C8B-B14F-4D97-AF65-F5344CB8AC3E}">
        <p14:creationId xmlns:p14="http://schemas.microsoft.com/office/powerpoint/2010/main" val="193224514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A6556B-0DD7-4732-9023-8F0CE140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D42F18-AA1E-4588-A40B-E1E74085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A6532-EAB3-4156-BAE8-8474500F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D5EB5-8EAE-4F2C-8306-BA9F05C0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Proposta do protótipo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B39C1-2F9F-4151-853D-C0959264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protótipo integra sistema web, API e eventos RFID para apoiar a auditoria patrimonial.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374C4B-5A72-4B18-B802-AC023E7C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3201E6-7CEE-47AD-9298-32337454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Locais, leitores, bens e tags formam a base do inventário lógico.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3BFEE6-97E4-410C-B0BB-5D1CF15F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06CF6-6DCC-4367-96D4-1C064BCF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O leitor de proximidade envia a tag ao sistema por meio de um comunicador intermediário.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84EAF-AE9A-4F76-BFE8-4B2FDB72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827A2-3FB8-452F-8C42-133D492F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API processa o evento e registra histórico, auditoria ou inconsistência conforme o caso.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393359-9454-49D9-9570-5E2C2248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B82487-876F-40DA-A03E-ECED8CD7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Sistema web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DEB4D-1DC6-4D17-A1AD-DC962CFF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cadastro e acompanhamento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41D507-9D33-4E48-9ED3-D24DABC9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A1178-6861-477A-B62A-610F9190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API REST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9BF2F-3447-4B10-8265-BD7B6B6D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entrada padronizada de eventos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CA2F7E-5B4B-4488-B7B6-73D6A40B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4C0E17-3EFB-44DD-9925-C0669041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RFID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96C5EB-F447-4B60-B10A-977ADCFE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evidência física em cenário controlado</a:t>
            </a:r>
          </a:p>
        </p:txBody>
      </p:sp>
    </p:spTree>
    <p:extLst>
      <p:ext uri="{BB962C8B-B14F-4D97-AF65-F5344CB8AC3E}">
        <p14:creationId xmlns:p14="http://schemas.microsoft.com/office/powerpoint/2010/main" val="16113171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9A23D-9450-4223-A5FA-74A9D0C4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D280C0-CD93-4BF2-862D-641CC09F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B32F2-46B8-4BD2-A45A-4D48FE17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B9F54-B13F-46D7-A1A4-D5A001BC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Objetivos do trabalho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1A912-FAD6-45FF-ACFF-94C3D274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Desenvolver e validar funcionalmente um protótipo web de inventário patrimonial baseado em RFID.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6C9BB-AF58-4CB6-841D-A6861CD5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C3F03-7D86-4044-BFC3-239ED80E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Implementar cadastros, consulta, auditoria, histórico e tratamento de inconsistências.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E39ADB-E199-42EF-ABEA-DBF6B0E0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4A7277-629B-471A-AD32-77AAACBD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Projetar uma arquitetura modular para receber e processar eventos RFID.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E86D7-42C9-40C5-898F-69173DC5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0034C-3583-4EEF-BD98-4F6779DB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Verificar o fluxo de leitura, processamento e atualização do inventário em ambiente controlado.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D0A42B-A366-49B6-93AA-E77AF8EF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BF646C-8A87-4E38-8998-99F2808F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765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Construir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EC289-6751-4826-9B9C-907B4060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384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protótipo web funcional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AC1627-9968-4A30-A1B2-69FF0DDF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E24D7D-CB5B-4631-835E-1631A369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433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Integrar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72EAF3-1C5A-4431-9861-2CD2C345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052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leitura RFID e 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74A21-F323-441E-AE55-A82948D7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148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91660D-C20C-4B32-A047-32D39B52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6101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Validar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F1149D-FC43-4664-A0FC-C4553EB4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720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fluxo funcional do sistema</a:t>
            </a:r>
          </a:p>
        </p:txBody>
      </p:sp>
    </p:spTree>
    <p:extLst>
      <p:ext uri="{BB962C8B-B14F-4D97-AF65-F5344CB8AC3E}">
        <p14:creationId xmlns:p14="http://schemas.microsoft.com/office/powerpoint/2010/main" val="3426995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E82CF1-A03D-4195-9AD8-F4058AAB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C70B0-58AC-40F9-8EC1-0955BD91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572C4-0EA0-45EE-BDC3-C9FFC53D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BF1D4-939A-4C84-8C21-D9CDC6A1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Comparação com trabalhos relacionados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15208-6C14-4D86-B9DE-408D1C96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literatura sustenta RFID, integração com sistemas e cautela na avaliação física da tecnologia.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1606C9-7DEA-4BD6-A49F-659B0AFE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E6F525-92F3-43EC-A079-DE3ED63A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RFID em inventário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3FD81-554F-46BA-84FA-E437BBA1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1950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identificação automática de bens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32608D-0B9A-4C34-8DFA-2D91A8A7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5750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87E08-29D0-40D8-98B4-5F359289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051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Middleware e IoT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4F8B5-FFBC-41F1-A485-4B13D71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1950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integração de eventos a sistemas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ABAA70-ECAF-4929-9C09-E77B83B6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5750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45BF8C-C0B3-496A-B800-A1408F80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051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InventoryRFID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4F1FE-52A4-4273-A95D-D888CE53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auditoria e resolução de inconsistências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AE51CA-3C30-4453-9EF8-F60CC408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Diferencial: a leitura RFID não fica restrita à identificação; ela alimenta auditoria patrimonial, registro e resolução de inconsistências e histórico operacional.</a:t>
            </a:r>
          </a:p>
        </p:txBody>
      </p:sp>
    </p:spTree>
    <p:extLst>
      <p:ext uri="{BB962C8B-B14F-4D97-AF65-F5344CB8AC3E}">
        <p14:creationId xmlns:p14="http://schemas.microsoft.com/office/powerpoint/2010/main" val="21581284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383CCF-ED7B-40AB-8A3C-0E0F03A5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BAE56-7EDA-4B0B-9237-9B41A60A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E15144-905A-4493-BFD4-B5EC5FFF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5EF5D-0AD4-4833-A68C-6A2E8FEB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Percurso metodológico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17101-F38D-451C-9DC1-5AECD6E7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pesquisa foi organizada para sair do problema patrimonial, construir o protótipo e verificar o fluxo implementado.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190355-D40E-4538-AA88-50773928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D0AD5-9005-4A78-8C01-14576DF3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02620-CCAD-418D-BF87-6252804B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E0321-9845-487C-BD26-A209CCD5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Entender o contexto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321945-115F-4092-A849-364DFED2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Revisão sobre controle patrimonial, RFID, integração e trabalhos relacionados.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E9AEBF-1DC8-4B90-9D01-4A27BC56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58E04-752B-431E-93A0-A4F3C6EB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71ABF2-75CD-4B40-B0C8-CD5FCC4F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D43894-EEC2-421C-AB08-0D7EF313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Desenvolver a solução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90DE9-4D0D-4F5D-A9A8-FC801AB6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Modelagem, arquitetura, telas, API e regras de processamento das leituras.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A7C17-3C02-41E0-8379-4889608D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43C685-024E-44ED-8D15-04EB2FB1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622296-2D4C-4A8C-BE3F-AD54D3A7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8BB5A8-B92B-40D3-B88E-B3AC09CF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Validar o fluxo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F2C1A5-3FDF-4AC6-8A47-7B7371B7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Cenários controlados com leitor de proximidade, uma tag, comunicador e API.</a:t>
            </a:r>
          </a:p>
        </p:txBody>
      </p:sp>
    </p:spTree>
    <p:extLst>
      <p:ext uri="{BB962C8B-B14F-4D97-AF65-F5344CB8AC3E}">
        <p14:creationId xmlns:p14="http://schemas.microsoft.com/office/powerpoint/2010/main" val="39088975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D6A6FE-D956-4508-9711-4CF3C2DC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4ABA8-BA5B-4A08-B04A-5F2DD2C5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30ABD-8187-4196-9C6E-EF72F53A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C7F12-052E-4AC4-92AD-85408EC6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3700" b="1">
                <a:solidFill>
                  <a:srgbClr val="17202A"/>
                </a:solidFill>
                <a:latin typeface="Arial"/>
              </a:rPr>
              <a:t>Arquitetura e tecnologias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72A85-80D9-4FED-BBDA-A6BD38B3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000" b="0">
                <a:solidFill>
                  <a:srgbClr val="51606F"/>
                </a:solidFill>
                <a:latin typeface="Arial"/>
              </a:rPr>
              <a:t>A aplica??o combina interface web, API REST, banco local e middleware para processar eventos RFID.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65A3D-55FB-43FA-8F33-D098BA29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719072"/>
            <a:ext cx="6720840" cy="4069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9d7f6e0264e40"/>
          <a:stretch xmlns:a="http://schemas.openxmlformats.org/drawingml/2006/main"/>
        </p:blipFill>
        <p:spPr>
          <a:xfrm xmlns:a="http://schemas.openxmlformats.org/drawingml/2006/main">
            <a:off x="749808" y="1874519"/>
            <a:ext cx="6309360" cy="370332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FA491-6D8D-4A98-B198-2C17AF75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600" b="0">
                <a:solidFill>
                  <a:srgbClr val="51606F"/>
                </a:solidFill>
                <a:latin typeface="Arial"/>
              </a:rPr>
              <a:t>Diagrama da arquitetura e tecnologias usadas no prot?tipo.</a:t>
            </a:r>
          </a:p>
        </p:txBody>
      </p:sp>
      <p:sp xmlns:a="http://schemas.openxmlformats.org/drawingml/2006/main">
        <p:nvSpPr>
          <p:cNvPr id="9" name="Rectangle 8"/>
          <p:cNvSpPr/>
          <p:nvPr/>
        </p:nvSpPr>
        <p:spPr>
          <a:xfrm>
            <a:off x="7635240" y="1719072"/>
            <a:ext cx="379476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882127" y="1938528"/>
            <a:ext cx="32461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75D3B"/>
                </a:solidFill>
                <a:latin typeface="Arial"/>
              </a:rPr>
              <a:t>Tecnologias usadas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7882127" y="2267712"/>
            <a:ext cx="30175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1606F"/>
                </a:solidFill>
                <a:latin typeface="Arial"/>
              </a:rPr>
              <a:t>Camadas do prot?tipo</a:t>
            </a:r>
          </a:p>
        </p:txBody>
      </p:sp>
      <p:sp xmlns:a="http://schemas.openxmlformats.org/drawingml/2006/main">
        <p:nvSpPr>
          <p:cNvPr id="12" name="Rounded Rectangle 11"/>
          <p:cNvSpPr/>
          <p:nvPr/>
        </p:nvSpPr>
        <p:spPr>
          <a:xfrm>
            <a:off x="7882127" y="2697480"/>
            <a:ext cx="1481328" cy="713232"/>
          </a:xfrm>
          <a:prstGeom prst="roundRect">
            <a:avLst/>
          </a:prstGeom>
          <a:solidFill>
            <a:srgbClr val="EAF1FB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7991855" y="2807208"/>
            <a:ext cx="126187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75D3B"/>
                </a:solidFill>
                <a:latin typeface="Arial"/>
              </a:rPr>
              <a:t>Next.js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7973567" y="3090672"/>
            <a:ext cx="129844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1606F"/>
                </a:solidFill>
                <a:latin typeface="Arial"/>
              </a:rPr>
              <a:t>interface web</a:t>
            </a:r>
          </a:p>
        </p:txBody>
      </p:sp>
      <p:sp xmlns:a="http://schemas.openxmlformats.org/drawingml/2006/main">
        <p:nvSpPr>
          <p:cNvPr id="15" name="Rounded Rectangle 14"/>
          <p:cNvSpPr/>
          <p:nvPr/>
        </p:nvSpPr>
        <p:spPr>
          <a:xfrm>
            <a:off x="9619488" y="2697480"/>
            <a:ext cx="1481328" cy="713232"/>
          </a:xfrm>
          <a:prstGeom prst="roundRect">
            <a:avLst/>
          </a:prstGeom>
          <a:solidFill>
            <a:srgbClr val="EAF1FB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9729215" y="2807208"/>
            <a:ext cx="126187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75D3B"/>
                </a:solidFill>
                <a:latin typeface="Arial"/>
              </a:rPr>
              <a:t>React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9710928" y="3090672"/>
            <a:ext cx="129844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1606F"/>
                </a:solidFill>
                <a:latin typeface="Arial"/>
              </a:rPr>
              <a:t>componentes da UI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7882127" y="3666744"/>
            <a:ext cx="1481328" cy="713232"/>
          </a:xfrm>
          <a:prstGeom prst="roundRect">
            <a:avLst/>
          </a:prstGeom>
          <a:solidFill>
            <a:srgbClr val="E7F4EE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991855" y="3776472"/>
            <a:ext cx="126187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75D3B"/>
                </a:solidFill>
                <a:latin typeface="Arial"/>
              </a:rPr>
              <a:t>Django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973567" y="4059935"/>
            <a:ext cx="129844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1606F"/>
                </a:solidFill>
                <a:latin typeface="Arial"/>
              </a:rPr>
              <a:t>backend e regras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9619488" y="3666744"/>
            <a:ext cx="1481328" cy="713232"/>
          </a:xfrm>
          <a:prstGeom prst="roundRect">
            <a:avLst/>
          </a:prstGeom>
          <a:solidFill>
            <a:srgbClr val="E7F4EE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9729215" y="3776472"/>
            <a:ext cx="126187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75D3B"/>
                </a:solidFill>
                <a:latin typeface="Arial"/>
              </a:rPr>
              <a:t>DRF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9710928" y="4059935"/>
            <a:ext cx="129844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1606F"/>
                </a:solidFill>
                <a:latin typeface="Arial"/>
              </a:rPr>
              <a:t>API REST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7882127" y="4636008"/>
            <a:ext cx="1481328" cy="713232"/>
          </a:xfrm>
          <a:prstGeom prst="roundRect">
            <a:avLst/>
          </a:prstGeom>
          <a:solidFill>
            <a:srgbClr val="FFF4CF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7991855" y="4745736"/>
            <a:ext cx="126187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75D3B"/>
                </a:solidFill>
                <a:latin typeface="Arial"/>
              </a:rPr>
              <a:t>SQLite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7973567" y="5029200"/>
            <a:ext cx="129844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1606F"/>
                </a:solidFill>
                <a:latin typeface="Arial"/>
              </a:rPr>
              <a:t>persist?ncia local</a:t>
            </a:r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9619488" y="4636008"/>
            <a:ext cx="1481328" cy="713232"/>
          </a:xfrm>
          <a:prstGeom prst="roundRect">
            <a:avLst/>
          </a:prstGeom>
          <a:solidFill>
            <a:srgbClr val="FFF4CF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9729215" y="4745736"/>
            <a:ext cx="126187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75D3B"/>
                </a:solidFill>
                <a:latin typeface="Arial"/>
              </a:rPr>
              <a:t>RFID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9710928" y="5029200"/>
            <a:ext cx="129844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1606F"/>
                </a:solidFill>
                <a:latin typeface="Arial"/>
              </a:rPr>
              <a:t>eventos de leitura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7882127" y="5504688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1606F"/>
                </a:solidFill>
                <a:latin typeface="Arial"/>
              </a:rPr>
              <a:t>Middleware/API como n?cleo de integra??o entre interface, banco e eventos RFID.</a:t>
            </a:r>
          </a:p>
        </p:txBody>
      </p:sp>
    </p:spTree>
    <p:extLst>
      <p:ext uri="{BB962C8B-B14F-4D97-AF65-F5344CB8AC3E}">
        <p14:creationId xmlns:p14="http://schemas.microsoft.com/office/powerpoint/2010/main" val="165232304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B605E1-24C4-44F8-AC95-84E80CFF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DBEAC-9D97-4372-BC8E-D6A5568D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7E0A2A-FDBA-4E79-9850-EFE11297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C9A692-1113-48B2-B255-A9CD0698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Fluxo RFID e limite experimental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BF8B21-B10A-44D4-9177-8D8D0269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slide separa o que foi validado fisicamente do que permanece como caminho escalável da arquitetura.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FCC212-7864-47DC-BB39-9291038F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5ECBD-1A01-4826-9649-4C136E6F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CE05BA-446C-45A0-AD6F-15FE0E6A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33650"/>
            <a:ext cx="449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Validado fisicamente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A02AF-14FB-483E-9E7C-3B6694FF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2751D-F1F1-4AE1-BC91-2927F8DF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91FB7C-7C2C-4C97-97DD-6D3721CF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194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Tag aproximada do leitor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E986D5-3AA0-4469-8416-DBEC4BA7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91D9CE-7917-4CFB-8CC7-5431C751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957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2A2AA-B481-4B1D-B89E-C859BEEC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766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Comunicador envia evento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C3034-37C2-4357-8B36-B82BE242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A8D612-392C-457C-B901-6652998C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52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BBAF9A-CD6A-40AD-8A74-6C8771BE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338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API processa a leitura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AA138C-13E7-4B94-84A6-ADBE41FB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49F530-FDA3-4269-A639-553ED32E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71836D-494E-4A5F-8C66-133880DC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910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Auditoria registra resultado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C836C-C22F-4716-A0B7-1C266AA5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244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A23C26-C2DF-4FC8-A704-C14C0319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449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Leitor de proximidade, uma tag, comunicador intermediário e API.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56C5D7-146B-4A18-825E-7299475C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09930D-E1FB-4818-BB16-ED554A15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00EFB1-D1BC-499F-8658-9E31B94E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33650"/>
            <a:ext cx="449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Previsto ou verificado por software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B9060C-3F77-4F4D-9CD9-0E158F58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00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10387D-9E6C-43C7-8F84-AE96EA79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385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8D3AA6-537E-4CDE-9264-101244E2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194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Sensor ou gateway aciona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4F4C79-53C8-443D-8C1A-0B1AEAF1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57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A258DA-1A43-4824-B718-AC48EBC4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957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73B98D-ECCE-49A3-8DD2-21B56D7A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6766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Sistema abre janela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811234-392E-4EDF-B0DB-F0881BDC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9C401-9D70-4790-BFB9-47A89287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152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7D412A-81FA-4588-860F-FA9ACE74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338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envia tags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CA34D6-3E35-44A4-B006-35F96494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F21BC0-14B2-4CA0-ABBC-17870587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101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6A2246-3DED-4CAA-855C-50EA1F08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Backend processa evento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0439D2-4A00-4B68-B5CA-09805E4A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244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F59AA7-72EC-45C4-AD62-EEC725DD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38750"/>
            <a:ext cx="449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Fluxo arquitetural para expansão, sem validação física completa.</a:t>
            </a:r>
          </a:p>
        </p:txBody>
      </p:sp>
    </p:spTree>
    <p:extLst>
      <p:ext uri="{BB962C8B-B14F-4D97-AF65-F5344CB8AC3E}">
        <p14:creationId xmlns:p14="http://schemas.microsoft.com/office/powerpoint/2010/main" val="29434318"/>
      </p:ext>
    </p:extLst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>
            <a:solidFill>
              <a:srgbClr val="F7F9FB"/>
            </a:solidFill>
          </a:ln>
        </p:spPr>
        <p:txBody>
          <a:bodyPr/>
          <a:lstStyle/>
          <a:p/>
        </p:txBody>
      </p:sp>
      <p:sp>
        <p:nvSpPr>
          <p:cNvPr id="3" name="Side bar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>
            <a:solidFill>
              <a:srgbClr val="0E7A4F"/>
            </a:solidFill>
          </a:ln>
        </p:spPr>
        <p:txBody>
          <a:bodyPr/>
          <a:lstStyle/>
          <a:p/>
        </p:txBody>
      </p:sp>
      <p:sp>
        <p:nvSpPr>
          <p:cNvPr id="4" name="Page"/>
          <p:cNvSpPr txBox="1"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r"/>
            <a:r>
              <a:rPr sz="1800" b="0">
                <a:solidFill>
                  <a:srgbClr val="51606F"/>
                </a:solidFill>
                <a:latin typeface="Arial"/>
              </a:rPr>
              <a:t>10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723900" y="520700"/>
            <a:ext cx="10287000" cy="78105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pt-BR" sz="3700" b="1">
                <a:solidFill>
                  <a:srgbClr val="17202A"/>
                </a:solidFill>
                <a:latin typeface="Arial"/>
              </a:rPr>
              <a:t>Demostração do protótipo</a:t>
            </a:r>
            <a:endParaRPr lang="pt-BR" sz="3700"/>
          </a:p>
        </p:txBody>
      </p:sp>
      <p:sp>
        <p:nvSpPr>
          <p:cNvPr id="6" name="Subtitle"/>
          <p:cNvSpPr txBox="1"/>
          <p:nvPr/>
        </p:nvSpPr>
        <p:spPr>
          <a:xfrm>
            <a:off x="736600" y="1206500"/>
            <a:ext cx="9334500" cy="431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pt-BR" sz="2000">
                <a:solidFill>
                  <a:srgbClr val="51606F"/>
                </a:solidFill>
                <a:latin typeface="Arial"/>
              </a:rPr>
              <a:t>Vídeo demonstrativo das interfaces principais no deploy da aplicação.</a:t>
            </a:r>
            <a:endParaRPr lang="pt-BR" sz="2000"/>
          </a:p>
        </p:txBody>
      </p:sp>
      <p:sp>
        <p:nvSpPr>
          <p:cNvPr id="7" name="Video frame"/>
          <p:cNvSpPr/>
          <p:nvPr/>
        </p:nvSpPr>
        <p:spPr>
          <a:xfrm>
            <a:off x="1143000" y="1714500"/>
            <a:ext cx="9906000" cy="3619500"/>
          </a:xfrm>
          <a:prstGeom prst="rect">
            <a:avLst/>
          </a:prstGeom>
          <a:solidFill>
            <a:srgbClr val="17202A"/>
          </a:solidFill>
          <a:ln>
            <a:solidFill>
              <a:srgbClr val="075D3B"/>
            </a:solidFill>
          </a:ln>
        </p:spPr>
        <p:txBody>
          <a:bodyPr/>
          <a:lstStyle/>
          <a:p/>
        </p:txBody>
      </p:sp>
      <p:sp>
        <p:nvSpPr>
          <p:cNvPr id="8" name="Video inner"/>
          <p:cNvSpPr/>
          <p:nvPr/>
        </p:nvSpPr>
        <p:spPr>
          <a:xfrm>
            <a:off x="1352550" y="1924050"/>
            <a:ext cx="9486900" cy="3200400"/>
          </a:xfrm>
          <a:prstGeom prst="rect">
            <a:avLst/>
          </a:prstGeom>
          <a:solidFill>
            <a:srgbClr val="22303B"/>
          </a:solidFill>
          <a:ln>
            <a:solidFill>
              <a:srgbClr val="314657"/>
            </a:solidFill>
          </a:ln>
        </p:spPr>
        <p:txBody>
          <a:bodyPr/>
          <a:lstStyle/>
          <a:p/>
        </p:txBody>
      </p:sp>
      <p:sp>
        <p:nvSpPr>
          <p:cNvPr id="9" name="Play circle"/>
          <p:cNvSpPr/>
          <p:nvPr/>
        </p:nvSpPr>
        <p:spPr>
          <a:xfrm>
            <a:off x="5495925" y="2857500"/>
            <a:ext cx="1257300" cy="1257300"/>
          </a:xfrm>
          <a:prstGeom prst="ellipse">
            <a:avLst/>
          </a:prstGeom>
          <a:solidFill>
            <a:srgbClr val="0E7A4F"/>
          </a:solidFill>
          <a:ln>
            <a:solidFill>
              <a:srgbClr val="0E7A4F"/>
            </a:solidFill>
          </a:ln>
        </p:spPr>
        <p:txBody>
          <a:bodyPr/>
          <a:lstStyle/>
          <a:p/>
        </p:txBody>
      </p:sp>
      <p:sp>
        <p:nvSpPr>
          <p:cNvPr id="10" name="Play glyph"/>
          <p:cNvSpPr txBox="1"/>
          <p:nvPr/>
        </p:nvSpPr>
        <p:spPr>
          <a:xfrm>
            <a:off x="5848350" y="3048000"/>
            <a:ext cx="457200" cy="558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pt-BR" sz="5400" b="1">
                <a:solidFill>
                  <a:srgbClr val="FFFFFF"/>
                </a:solidFill>
                <a:latin typeface="Arial"/>
              </a:rPr>
              <a:t>&gt;</a:t>
            </a:r>
            <a:endParaRPr lang="pt-BR" sz="5400"/>
          </a:p>
        </p:txBody>
      </p:sp>
      <p:sp>
        <p:nvSpPr>
          <p:cNvPr id="11" name="Video placeholder"/>
          <p:cNvSpPr txBox="1"/>
          <p:nvPr/>
        </p:nvSpPr>
        <p:spPr>
          <a:xfrm>
            <a:off x="2381250" y="4267200"/>
            <a:ext cx="743775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"/>
              </a:rPr>
              <a:t>Insira aqui o vídeo gravado do deploy</a:t>
            </a:r>
            <a:endParaRPr lang="pt-BR" sz="2400"/>
          </a:p>
        </p:txBody>
      </p:sp>
      <p:sp>
        <p:nvSpPr>
          <p:cNvPr id="12" name="Demo path"/>
          <p:cNvSpPr txBox="1"/>
          <p:nvPr/>
        </p:nvSpPr>
        <p:spPr>
          <a:xfrm>
            <a:off x="2381250" y="4591050"/>
            <a:ext cx="7437750" cy="304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pt-BR" sz="1800">
                <a:solidFill>
                  <a:srgbClr val="B8C7D3"/>
                </a:solidFill>
                <a:latin typeface="Arial"/>
              </a:rPr>
              <a:t>Painel  •  Auditoria  •  Inconsistências</a:t>
            </a:r>
            <a:endParaRPr lang="pt-BR" sz="1800"/>
          </a:p>
        </p:txBody>
      </p:sp>
      <p:sp>
        <p:nvSpPr>
          <p:cNvPr id="13" name="Deploy button"/>
          <p:cNvSpPr/>
          <p:nvPr/>
        </p:nvSpPr>
        <p:spPr>
          <a:xfrm>
            <a:off x="4343400" y="5664200"/>
            <a:ext cx="3505200" cy="495300"/>
          </a:xfrm>
          <a:prstGeom prst="rect">
            <a:avLst/>
          </a:prstGeom>
          <a:solidFill>
            <a:srgbClr val="075D3B"/>
          </a:solidFill>
          <a:ln>
            <a:solidFill>
              <a:srgbClr val="075D3B"/>
            </a:solidFill>
          </a:ln>
        </p:spPr>
        <p:txBody>
          <a:bodyPr/>
          <a:lstStyle/>
          <a:p/>
        </p:txBody>
      </p:sp>
      <p:sp>
        <p:nvSpPr>
          <p:cNvPr id="14" name="Deploy button text"/>
          <p:cNvSpPr txBox="1"/>
          <p:nvPr/>
        </p:nvSpPr>
        <p:spPr>
          <a:xfrm>
            <a:off x="4343400" y="5784850"/>
            <a:ext cx="3505200" cy="304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pt-BR" sz="2200" b="1">
                <a:solidFill>
                  <a:srgbClr val="FFFFFF"/>
                </a:solidFill>
                <a:latin typeface="Arial"/>
                <a:hlinkClick r:id="rId2"/>
              </a:rPr>
              <a:t>Acessar deploy</a:t>
            </a:r>
            <a:endParaRPr lang="pt-BR" sz="2200"/>
          </a:p>
        </p:txBody>
      </p:sp>
      <p:sp>
        <p:nvSpPr>
          <p:cNvPr id="15" name="Deploy url"/>
          <p:cNvSpPr txBox="1"/>
          <p:nvPr/>
        </p:nvSpPr>
        <p:spPr>
          <a:xfrm>
            <a:off x="3771900" y="6273800"/>
            <a:ext cx="4648200" cy="2413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pt-BR" sz="1400">
                <a:solidFill>
                  <a:srgbClr val="51606F"/>
                </a:solidFill>
                <a:latin typeface="Arial"/>
              </a:rPr>
              <a:t>https://inventory-rfid.vercel.app/</a:t>
            </a:r>
            <a:endParaRPr lang="pt-BR"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62647F-DB07-418E-B1BE-0D94E17B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E3F8B-83E0-423C-BC58-4AF66BB7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942B89-EB8A-4C5C-B5B0-097724EA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FF187-9C67-4F5A-8617-C586F1E8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Validação funcional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57F78-FEE0-4818-B0E8-F6F4A8CA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Cada cenário foi repetido seis vezes para confirmar o comportamento funcional, sem caráter estatístico.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B73BF7-6170-46E3-BE66-DBBBCB43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36A42-42A4-4911-84F0-BBEF5E8A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Cenário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68BF4-083B-4FE6-BBF0-EE920BE9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907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ECF67-C73C-4382-8F7C-37E99E79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66950"/>
            <a:ext cx="971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Execuções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F10896-D952-4CEF-B9F9-68D19EE2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907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CB7410-F04B-4228-8459-DD19257B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66950"/>
            <a:ext cx="592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565A74-FD2B-43DB-8F09-7CEE7D6F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F1AAE-AFF7-4D58-9A52-BD351387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Leitura conhecida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9F72C0-6AF1-410E-A1A3-2C99C00B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908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E7196-E38E-4F19-ACFB-1F40BD14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67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C009C3-FC25-42D9-BD00-E1506A35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908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DB783E-FECD-45D9-B3A4-DFBC6521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670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item detectado e itens ausentes classificados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839BCC-F2AF-4637-95D2-70CFE403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9FB98C-FAE9-4BFA-A2BB-BC98435C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Correção de pendência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E5AE9-A2E5-46F5-A391-5A26B7CD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242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C76492-7E0D-4AC8-9852-AF097DF5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004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B54D01-15EB-4696-ADBC-B477B487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1242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F28533-8852-4B14-B740-636E1105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2004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problema encerrado com registro no histórico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F049B0-7A6D-4056-8C67-30A3B192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19ACFF-B3AD-46B3-8173-37FE2DA8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Tag desconhecida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831AB2-F1A4-470C-B8F0-C69E8DA3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576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2A1044-D420-406A-ADF6-AEF36247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338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30A262-A21A-4E1A-AD2F-4F1BA232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576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17936A-9633-4B22-8B28-781AE6E7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7338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problema registrado para análise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3CA8B2-D7AE-4893-9D1C-761AD58E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060E30-E65B-430A-B3CA-0F7D0438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Local divergente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BA79D5-4D42-4FC3-A0C5-38E7329A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1910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5032BA-7C57-47FB-9C59-04814A11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672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266A6E-E9D5-435F-8AB7-12A46E47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1910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42C642-553B-4407-B523-DF957609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2672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bem marcado fora do local esperado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E199DD3-4136-43B2-84BA-DAAFB8C1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2F798E-F5D8-4EB7-83FE-037FD5B6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006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Leitura repetida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76CED1-9CF3-4E67-9A36-571D1F84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7244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934757-82D6-4674-9772-545CE40D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8006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707006-9F77-4BDA-88F1-BCFB883F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7244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75D6C9-44D4-4297-A4B0-0F2A002D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8006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repetições tratadas sem duplicar o resultado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4C4983-E8EB-41F7-B363-DABF241C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DA9C8C-4AF7-4241-9E87-EBCF4377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sem resposta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2935EE8-A61F-4096-8585-A0F8E6B8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2578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E67EEF-4988-4447-AE71-3899FB0C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334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257D0C6-6FD7-40A1-8842-5BC2399F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2578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AC247E-E663-4F7F-893F-AF2CF4FE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3340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falha sinalizada para o usuário</a:t>
            </a:r>
          </a:p>
        </p:txBody>
      </p:sp>
    </p:spTree>
    <p:extLst>
      <p:ext uri="{BB962C8B-B14F-4D97-AF65-F5344CB8AC3E}">
        <p14:creationId xmlns:p14="http://schemas.microsoft.com/office/powerpoint/2010/main" val="120636004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984750-C571-4F67-9BCE-897DB198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18E5E-53BC-41E6-9670-DFAB85CD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9A41D0-6048-4C05-84DE-D56EDCD0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CDD5C-B54B-42A4-BB88-075F3192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3700" b="1">
                <a:solidFill>
                  <a:srgbClr val="17202A"/>
                </a:solidFill>
                <a:latin typeface="Arial"/>
              </a:rPr>
              <a:t>Conclus?o e trabalhos futuros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7EC0FC-584A-40FE-A670-508D976C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000" b="0">
                <a:solidFill>
                  <a:srgbClr val="51606F"/>
                </a:solidFill>
                <a:latin typeface="Arial"/>
              </a:rPr>
              <a:t>O prot?tipo demonstra viabilidade funcional e delimita sua continuidade experimental.</a:t>
            </a:r>
          </a:p>
        </p:txBody>
      </p:sp>
      <p:sp xmlns:a="http://schemas.openxmlformats.org/drawingml/2006/main">
        <p:nvSpPr>
          <p:cNvPr id="6" name="Rectangle 5"/>
          <p:cNvSpPr/>
          <p:nvPr/>
        </p:nvSpPr>
        <p:spPr>
          <a:xfrm>
            <a:off x="841248" y="2148840"/>
            <a:ext cx="3154680" cy="2148840"/>
          </a:xfrm>
          <a:prstGeom prst="rect">
            <a:avLst/>
          </a:prstGeom>
          <a:solidFill>
            <a:srgbClr val="E7F4EE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1042416" y="2350008"/>
            <a:ext cx="2752344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075D3B"/>
                </a:solidFill>
                <a:latin typeface="Arial"/>
              </a:rPr>
              <a:t>Contribui??o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1069848" y="2926080"/>
            <a:ext cx="2697480" cy="1051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17202A"/>
                </a:solidFill>
                <a:latin typeface="Arial"/>
              </a:rPr>
              <a:t>Integra cadastro patrimonial, eventos RFID, API, auditoria, hist?rico e inconsist?ncias.</a:t>
            </a:r>
          </a:p>
        </p:txBody>
      </p:sp>
      <p:sp xmlns:a="http://schemas.openxmlformats.org/drawingml/2006/main">
        <p:nvSpPr>
          <p:cNvPr id="9" name="Rectangle 8"/>
          <p:cNvSpPr/>
          <p:nvPr/>
        </p:nvSpPr>
        <p:spPr>
          <a:xfrm>
            <a:off x="4544568" y="2148840"/>
            <a:ext cx="3154680" cy="2148840"/>
          </a:xfrm>
          <a:prstGeom prst="rect">
            <a:avLst/>
          </a:prstGeom>
          <a:solidFill>
            <a:srgbClr val="EAF1FB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4745736" y="2350008"/>
            <a:ext cx="2752344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075D3B"/>
                </a:solidFill>
                <a:latin typeface="Arial"/>
              </a:rPr>
              <a:t>Valida??o funcional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4773168" y="2926080"/>
            <a:ext cx="2697480" cy="1051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17202A"/>
                </a:solidFill>
                <a:latin typeface="Arial"/>
              </a:rPr>
              <a:t>Confirma o processamento de eventos e o registro de diverg?ncias em cen?rio controlado.</a:t>
            </a:r>
          </a:p>
        </p:txBody>
      </p:sp>
      <p:sp xmlns:a="http://schemas.openxmlformats.org/drawingml/2006/main">
        <p:nvSpPr>
          <p:cNvPr id="12" name="Rectangle 11"/>
          <p:cNvSpPr/>
          <p:nvPr/>
        </p:nvSpPr>
        <p:spPr>
          <a:xfrm>
            <a:off x="8247888" y="2148840"/>
            <a:ext cx="3154680" cy="2148840"/>
          </a:xfrm>
          <a:prstGeom prst="rect">
            <a:avLst/>
          </a:prstGeom>
          <a:solidFill>
            <a:srgbClr val="FFF4CF"/>
          </a:solidFill>
          <a:ln w="9525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449056" y="2350008"/>
            <a:ext cx="2752344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075D3B"/>
                </a:solidFill>
                <a:latin typeface="Arial"/>
              </a:rPr>
              <a:t>Continuidade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8476488" y="2926080"/>
            <a:ext cx="2697480" cy="1051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17202A"/>
                </a:solidFill>
                <a:latin typeface="Arial"/>
              </a:rPr>
              <a:t>Ampliar testes com m?ltiplas tags, leitores de maior alcance, sensores/gateways e relat?rios.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1170432" y="4864608"/>
            <a:ext cx="98298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100" b="0">
                <a:solidFill>
                  <a:srgbClr val="51606F"/>
                </a:solidFill>
                <a:latin typeface="Arial"/>
              </a:rPr>
              <a:t>S?ntese: o sistema transforma eventos RFID em evid?ncias para auditoria patrimonial, sem afirmar desempenho f?sico em escala.</a:t>
            </a:r>
          </a:p>
        </p:txBody>
      </p:sp>
    </p:spTree>
    <p:extLst>
      <p:ext uri="{BB962C8B-B14F-4D97-AF65-F5344CB8AC3E}">
        <p14:creationId xmlns:p14="http://schemas.microsoft.com/office/powerpoint/2010/main" val="147934847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F795B6-2C7A-40FE-AB9A-545DAFB0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53095-7885-4C08-93D4-1E1C0B78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39E997-6FA1-4C8F-97A8-B192F43D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800" b="0">
                <a:solidFill>
                  <a:srgbClr val="51606F"/>
                </a:solidFill>
                <a:latin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4BF67-6F03-4EA0-AFC2-BF0AFD3A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Referências principais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02968-D6B4-462C-A525-CC086159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0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2ABB4-1B7C-4659-AAB2-EB18E57E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ALWADI et al. RFID smart inventory management system: A survey.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1C2A9-0BD9-42B8-BBCE-F751D7D7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1DF261-5F93-429D-95B1-1D597E48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289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ABIJÁUDE et al. Plataforma InventoryIoT para inventário automatizado.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4B045B-6D75-4FE1-94CE-23458810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4D29A-1E6D-419A-B4FA-0040EB8E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BRITO et al. Etiquetas inteligentes na gestão patrimonial pública.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D3F19F-15FC-4037-9EA2-E5DE5507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7C30D1-2C2E-4DA7-92A5-91C796D4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576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MASHAYEKHY et al. Impact of Internet of Things on inventory management.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3F6E09-E2C7-4018-9081-DD907012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3A991-5B6D-4AEA-85ED-79A1AFC1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TING et al. A framework for RFID implementation in inventory management.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2EB95-0714-4836-A379-FDBB8891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095BFC-7381-4B4B-80DD-0FF4537B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863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KNAPP; WANG. Interference in RFID installations.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E23474-FFA1-4503-9F6A-F5878EE7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571BDB-E2DD-43B5-BAE1-1B5B1F6F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006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Tribunal de Contas do Estado da Bahia. Orientações para controle patrimonial.</a:t>
            </a:r>
          </a:p>
        </p:txBody>
      </p:sp>
    </p:spTree>
    <p:extLst>
      <p:ext uri="{BB962C8B-B14F-4D97-AF65-F5344CB8AC3E}">
        <p14:creationId xmlns:p14="http://schemas.microsoft.com/office/powerpoint/2010/main" val="170335745"/>
      </p:ext>
    </p:extLst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>
            <a:solidFill>
              <a:srgbClr val="F7F9FB"/>
            </a:solidFill>
          </a:ln>
        </p:spPr>
        <p:txBody>
          <a:bodyPr/>
          <a:lstStyle/>
          <a:p/>
        </p:txBody>
      </p:sp>
      <p:sp>
        <p:nvSpPr>
          <p:cNvPr id="3" name="Side bar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>
            <a:solidFill>
              <a:srgbClr val="0E7A4F"/>
            </a:solidFill>
          </a:ln>
        </p:spPr>
        <p:txBody>
          <a:bodyPr/>
          <a:lstStyle/>
          <a:p/>
        </p:txBody>
      </p:sp>
      <p:sp>
        <p:nvSpPr>
          <p:cNvPr id="4" name="Top rule"/>
          <p:cNvSpPr/>
          <p:nvPr/>
        </p:nvSpPr>
        <p:spPr>
          <a:xfrm>
            <a:off x="876300" y="1295400"/>
            <a:ext cx="10439400" cy="9525"/>
          </a:xfrm>
          <a:prstGeom prst="rect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txBody>
          <a:bodyPr/>
          <a:lstStyle/>
          <a:p/>
        </p:txBody>
      </p:sp>
      <p:sp>
        <p:nvSpPr>
          <p:cNvPr id="5" name="Bottom rule"/>
          <p:cNvSpPr/>
          <p:nvPr/>
        </p:nvSpPr>
        <p:spPr>
          <a:xfrm>
            <a:off x="876300" y="5562600"/>
            <a:ext cx="10439400" cy="9525"/>
          </a:xfrm>
          <a:prstGeom prst="rect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txBody>
          <a:bodyPr/>
          <a:lstStyle/>
          <a:p/>
        </p:txBody>
      </p:sp>
      <p:sp>
        <p:nvSpPr>
          <p:cNvPr id="6" name="Title"/>
          <p:cNvSpPr txBox="1"/>
          <p:nvPr/>
        </p:nvSpPr>
        <p:spPr>
          <a:xfrm>
            <a:off x="1143000" y="2381250"/>
            <a:ext cx="99060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pt-BR" sz="6800" b="1">
                <a:solidFill>
                  <a:srgbClr val="075D3B"/>
                </a:solidFill>
                <a:latin typeface="Arial"/>
              </a:rPr>
              <a:t>Obrigado</a:t>
            </a:r>
            <a:endParaRPr lang="pt-BR" sz="6800"/>
          </a:p>
        </p:txBody>
      </p:sp>
      <p:sp>
        <p:nvSpPr>
          <p:cNvPr id="7" name="Subtitle"/>
          <p:cNvSpPr txBox="1"/>
          <p:nvPr/>
        </p:nvSpPr>
        <p:spPr>
          <a:xfrm>
            <a:off x="2476500" y="3381375"/>
            <a:ext cx="7239000" cy="482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pt-BR" sz="3000">
                <a:solidFill>
                  <a:srgbClr val="17202A"/>
                </a:solidFill>
                <a:latin typeface="Arial"/>
              </a:rPr>
              <a:t>Dúvidas e contribuições</a:t>
            </a:r>
            <a:endParaRPr lang="pt-BR" sz="3000"/>
          </a:p>
        </p:txBody>
      </p:sp>
      <p:sp>
        <p:nvSpPr>
          <p:cNvPr id="8" name="Author"/>
          <p:cNvSpPr txBox="1"/>
          <p:nvPr/>
        </p:nvSpPr>
        <p:spPr>
          <a:xfrm>
            <a:off x="3143250" y="4591050"/>
            <a:ext cx="59055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pt-BR" sz="2400">
                <a:solidFill>
                  <a:srgbClr val="51606F"/>
                </a:solidFill>
                <a:latin typeface="Arial"/>
              </a:rPr>
              <a:t>Ezequiel Lobo Oliveira</a:t>
            </a:r>
            <a:endParaRPr lang="pt-BR" sz="2400"/>
          </a:p>
        </p:txBody>
      </p:sp>
      <p:sp>
        <p:nvSpPr>
          <p:cNvPr id="9" name="Page"/>
          <p:cNvSpPr txBox="1"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r"/>
            <a:r>
              <a:rPr sz="1800" b="0">
                <a:solidFill>
                  <a:srgbClr val="51606F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2026-06-26T19:32:15.9130000Z</dcterms:created>
  <dcterms:modified xsi:type="dcterms:W3CDTF">2026-06-26T19:32:15.9130000Z</dcterms:modified>
</coreProperties>
</file>