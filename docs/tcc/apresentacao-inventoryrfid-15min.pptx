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19a294904bf4888" /><Relationship Type="http://schemas.openxmlformats.org/officeDocument/2006/relationships/extended-properties" Target="/docProps/app.xml" Id="R738a30aa5c514783" /><Relationship Type="http://schemas.openxmlformats.org/officeDocument/2006/relationships/officeDocument" Target="/ppt/presentation.xml" Id="R815966bdb41146d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a07d603c88a4d31"/>
  </p:sldMasterIdLst>
  <p:notesMasterIdLst>
    <p:notesMasterId xmlns:r="http://schemas.openxmlformats.org/officeDocument/2006/relationships" r:id="Rfbd03f6f1635431e"/>
  </p:notesMasterIdLst>
  <p:sldIdLst>
    <p:sldId xmlns:r="http://schemas.openxmlformats.org/officeDocument/2006/relationships" id="256" r:id="Re581c5a59b7b437c"/>
    <p:sldId xmlns:r="http://schemas.openxmlformats.org/officeDocument/2006/relationships" id="257" r:id="Rf99ea9f91f0548e0"/>
    <p:sldId xmlns:r="http://schemas.openxmlformats.org/officeDocument/2006/relationships" id="258" r:id="R006238ba486b484f"/>
    <p:sldId xmlns:r="http://schemas.openxmlformats.org/officeDocument/2006/relationships" id="259" r:id="R43fbdaeec3934557"/>
    <p:sldId xmlns:r="http://schemas.openxmlformats.org/officeDocument/2006/relationships" id="260" r:id="R877b86f994004757"/>
    <p:sldId xmlns:r="http://schemas.openxmlformats.org/officeDocument/2006/relationships" id="261" r:id="R96ca242d6692444e"/>
    <p:sldId xmlns:r="http://schemas.openxmlformats.org/officeDocument/2006/relationships" id="262" r:id="R98c25efce2e04357"/>
    <p:sldId xmlns:r="http://schemas.openxmlformats.org/officeDocument/2006/relationships" id="263" r:id="R745ccd2283fa4f26"/>
    <p:sldId xmlns:r="http://schemas.openxmlformats.org/officeDocument/2006/relationships" id="264" r:id="Rfb5644e2532a4132"/>
    <p:sldId xmlns:r="http://schemas.openxmlformats.org/officeDocument/2006/relationships" id="265" r:id="R51e2fccf0827415f"/>
    <p:sldId xmlns:r="http://schemas.openxmlformats.org/officeDocument/2006/relationships" id="266" r:id="R8bb798dec3f745fe"/>
    <p:sldId xmlns:r="http://schemas.openxmlformats.org/officeDocument/2006/relationships" id="267" r:id="R889414659cc44ff9"/>
    <p:sldId xmlns:r="http://schemas.openxmlformats.org/officeDocument/2006/relationships" id="268" r:id="Rd675879c482441c3"/>
    <p:sldId xmlns:r="http://schemas.openxmlformats.org/officeDocument/2006/relationships" id="269" r:id="Re138f15740af46ea"/>
    <p:sldId xmlns:r="http://schemas.openxmlformats.org/officeDocument/2006/relationships" id="270" r:id="Rf263e07cb9bf4ad9"/>
    <p:sldId xmlns:r="http://schemas.openxmlformats.org/officeDocument/2006/relationships" id="271" r:id="R12bf01eb53674631"/>
    <p:sldId xmlns:r="http://schemas.openxmlformats.org/officeDocument/2006/relationships" id="272" r:id="Rd281d81567ca4c2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7534f7b0f74476d" /><Relationship Type="http://schemas.openxmlformats.org/officeDocument/2006/relationships/slideMaster" Target="/ppt/slideMasters/slideMaster1.xml" Id="R6a07d603c88a4d31" /><Relationship Type="http://schemas.openxmlformats.org/officeDocument/2006/relationships/notesMaster" Target="/ppt/notesMasters/notesMaster1.xml" Id="Rfbd03f6f1635431e" /><Relationship Type="http://schemas.openxmlformats.org/officeDocument/2006/relationships/presProps" Target="/ppt/presProps.xml" Id="R8dbe187790af493a" /><Relationship Type="http://schemas.openxmlformats.org/officeDocument/2006/relationships/viewProps" Target="/ppt/viewProps.xml" Id="Re2906fde665f420a" /><Relationship Type="http://schemas.openxmlformats.org/officeDocument/2006/relationships/tableStyles" Target="/ppt/tableStyles.xml" Id="R85070c47dd6c4ed0" /><Relationship Type="http://schemas.openxmlformats.org/officeDocument/2006/relationships/slide" Target="/ppt/slides/slide1.xml" Id="Re581c5a59b7b437c" /><Relationship Type="http://schemas.openxmlformats.org/officeDocument/2006/relationships/slide" Target="/ppt/slides/slide2.xml" Id="Rf99ea9f91f0548e0" /><Relationship Type="http://schemas.openxmlformats.org/officeDocument/2006/relationships/slide" Target="/ppt/slides/slide3.xml" Id="R006238ba486b484f" /><Relationship Type="http://schemas.openxmlformats.org/officeDocument/2006/relationships/slide" Target="/ppt/slides/slide4.xml" Id="R43fbdaeec3934557" /><Relationship Type="http://schemas.openxmlformats.org/officeDocument/2006/relationships/slide" Target="/ppt/slides/slide5.xml" Id="R877b86f994004757" /><Relationship Type="http://schemas.openxmlformats.org/officeDocument/2006/relationships/slide" Target="/ppt/slides/slide6.xml" Id="R96ca242d6692444e" /><Relationship Type="http://schemas.openxmlformats.org/officeDocument/2006/relationships/slide" Target="/ppt/slides/slide7.xml" Id="R98c25efce2e04357" /><Relationship Type="http://schemas.openxmlformats.org/officeDocument/2006/relationships/slide" Target="/ppt/slides/slide8.xml" Id="R745ccd2283fa4f26" /><Relationship Type="http://schemas.openxmlformats.org/officeDocument/2006/relationships/slide" Target="/ppt/slides/slide9.xml" Id="Rfb5644e2532a4132" /><Relationship Type="http://schemas.openxmlformats.org/officeDocument/2006/relationships/slide" Target="/ppt/slides/slide10.xml" Id="R51e2fccf0827415f" /><Relationship Type="http://schemas.openxmlformats.org/officeDocument/2006/relationships/slide" Target="/ppt/slides/slide11.xml" Id="R8bb798dec3f745fe" /><Relationship Type="http://schemas.openxmlformats.org/officeDocument/2006/relationships/slide" Target="/ppt/slides/slide12.xml" Id="R889414659cc44ff9" /><Relationship Type="http://schemas.openxmlformats.org/officeDocument/2006/relationships/slide" Target="/ppt/slides/slide13.xml" Id="Rd675879c482441c3" /><Relationship Type="http://schemas.openxmlformats.org/officeDocument/2006/relationships/slide" Target="/ppt/slides/slide14.xml" Id="Re138f15740af46ea" /><Relationship Type="http://schemas.openxmlformats.org/officeDocument/2006/relationships/slide" Target="/ppt/slides/slide15.xml" Id="Rf263e07cb9bf4ad9" /><Relationship Type="http://schemas.openxmlformats.org/officeDocument/2006/relationships/slide" Target="/ppt/slides/slide16.xml" Id="R12bf01eb53674631" /><Relationship Type="http://schemas.openxmlformats.org/officeDocument/2006/relationships/slide" Target="/ppt/slides/slide17.xml" Id="Rd281d81567ca4c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53c6e3c839499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f77918a3da64a76" /><Relationship Type="http://schemas.openxmlformats.org/officeDocument/2006/relationships/notesMaster" Target="/ppt/notesMasters/notesMaster1.xml" Id="R9dc595295998406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d82fcfed3854e66" /><Relationship Type="http://schemas.openxmlformats.org/officeDocument/2006/relationships/notesMaster" Target="/ppt/notesMasters/notesMaster1.xml" Id="Rf44b62bf388f404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0075251cb114381" /><Relationship Type="http://schemas.openxmlformats.org/officeDocument/2006/relationships/notesMaster" Target="/ppt/notesMasters/notesMaster1.xml" Id="R590a790f6591481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93cc1918b464b58" /><Relationship Type="http://schemas.openxmlformats.org/officeDocument/2006/relationships/notesMaster" Target="/ppt/notesMasters/notesMaster1.xml" Id="Re07c656cfd66459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94af4341c964d32" /><Relationship Type="http://schemas.openxmlformats.org/officeDocument/2006/relationships/notesMaster" Target="/ppt/notesMasters/notesMaster1.xml" Id="R825d5904c39b4cf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e2f4f713d484a4a" /><Relationship Type="http://schemas.openxmlformats.org/officeDocument/2006/relationships/notesMaster" Target="/ppt/notesMasters/notesMaster1.xml" Id="Rc32408ce8ca2494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0020fa513d044b5" /><Relationship Type="http://schemas.openxmlformats.org/officeDocument/2006/relationships/notesMaster" Target="/ppt/notesMasters/notesMaster1.xml" Id="Rda828dcc432140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065a7b4f4b4bbf" /><Relationship Type="http://schemas.openxmlformats.org/officeDocument/2006/relationships/notesMaster" Target="/ppt/notesMasters/notesMaster1.xml" Id="Rf002c9d8471e4dc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20cd5b43a784c67" /><Relationship Type="http://schemas.openxmlformats.org/officeDocument/2006/relationships/notesMaster" Target="/ppt/notesMasters/notesMaster1.xml" Id="R97317b22c170449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ff78e6cfb514dac" /><Relationship Type="http://schemas.openxmlformats.org/officeDocument/2006/relationships/notesMaster" Target="/ppt/notesMasters/notesMaster1.xml" Id="R447147d024e0476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f84c9afbe604413" /><Relationship Type="http://schemas.openxmlformats.org/officeDocument/2006/relationships/notesMaster" Target="/ppt/notesMasters/notesMaster1.xml" Id="R4102a9b76c464d6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f77702778e4434" /><Relationship Type="http://schemas.openxmlformats.org/officeDocument/2006/relationships/notesMaster" Target="/ppt/notesMasters/notesMaster1.xml" Id="R4ad2ee55384b46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19388adcb6949ca" /><Relationship Type="http://schemas.openxmlformats.org/officeDocument/2006/relationships/notesMaster" Target="/ppt/notesMasters/notesMaster1.xml" Id="Rc5c343ae4de44c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81e82a976d44ee1" /><Relationship Type="http://schemas.openxmlformats.org/officeDocument/2006/relationships/notesMaster" Target="/ppt/notesMasters/notesMaster1.xml" Id="Red2afddc1b4c48f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20743d5a8ce54e67" /><Relationship Type="http://schemas.openxmlformats.org/officeDocument/2006/relationships/notesMaster" Target="/ppt/notesMasters/notesMaster1.xml" Id="R2242429187194d2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639c7ddc5764849" /><Relationship Type="http://schemas.openxmlformats.org/officeDocument/2006/relationships/notesMaster" Target="/ppt/notesMasters/notesMaster1.xml" Id="R77b9cc2d124344e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bbf4c7cad644025" /><Relationship Type="http://schemas.openxmlformats.org/officeDocument/2006/relationships/notesMaster" Target="/ppt/notesMasters/notesMaster1.xml" Id="Rc2d4eb98e66342e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b2c75158c7442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d0bb49b27864543" /><Relationship Type="http://schemas.openxmlformats.org/officeDocument/2006/relationships/slideLayout" Target="/ppt/slideLayouts/slideLayout1.xml" Id="R43176e04e04e4c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3176e04e04e4c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0154dc96d5488c" /><Relationship Type="http://schemas.openxmlformats.org/officeDocument/2006/relationships/image" Target="/ppt/media/image.png" Id="R6b7cdcc386f34702" /><Relationship Type="http://schemas.openxmlformats.org/officeDocument/2006/relationships/notesSlide" Target="/ppt/notesSlides/notesSlide1.xml" Id="R1f3d5512b8f348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d73dfc8a54478" /><Relationship Type="http://schemas.openxmlformats.org/officeDocument/2006/relationships/notesSlide" Target="/ppt/notesSlides/notesSlide2.xml" Id="R616dec4241924e1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6bb254cdb84540" /><Relationship Type="http://schemas.openxmlformats.org/officeDocument/2006/relationships/notesSlide" Target="/ppt/notesSlides/notesSlide3.xml" Id="Rf14e35bc89ba42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cba68439824ede" /><Relationship Type="http://schemas.openxmlformats.org/officeDocument/2006/relationships/notesSlide" Target="/ppt/notesSlides/notesSlide4.xml" Id="R892d27b1ca2145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08f580bd8a4ac0" /><Relationship Type="http://schemas.openxmlformats.org/officeDocument/2006/relationships/notesSlide" Target="/ppt/notesSlides/notesSlide5.xml" Id="R52a8a09d990944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4dd10aec43432a" /><Relationship Type="http://schemas.openxmlformats.org/officeDocument/2006/relationships/notesSlide" Target="/ppt/notesSlides/notesSlide6.xml" Id="Re71ddca636e04b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16faba8fb4581" /><Relationship Type="http://schemas.openxmlformats.org/officeDocument/2006/relationships/notesSlide" Target="/ppt/notesSlides/notesSlide7.xml" Id="R1d9da036cafe4e5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9c8693d31f45c6" /><Relationship Type="http://schemas.openxmlformats.org/officeDocument/2006/relationships/image" Target="/ppt/media/image2.png" Id="R2b3d251f8db84c3e" /><Relationship Type="http://schemas.openxmlformats.org/officeDocument/2006/relationships/notesSlide" Target="/ppt/notesSlides/notesSlide8.xml" Id="R23c6b20ba0054a4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aafbdb364746ad" /><Relationship Type="http://schemas.openxmlformats.org/officeDocument/2006/relationships/image" Target="/ppt/media/image3.png" Id="R346292aca12848d2" /><Relationship Type="http://schemas.openxmlformats.org/officeDocument/2006/relationships/notesSlide" Target="/ppt/notesSlides/notesSlide9.xml" Id="Rc2fa30f10c094e5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e85bb015524dba" /><Relationship Type="http://schemas.openxmlformats.org/officeDocument/2006/relationships/notesSlide" Target="/ppt/notesSlides/notesSlide10.xml" Id="R2df771ba7e0e487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7d7b81f294947" /><Relationship Type="http://schemas.openxmlformats.org/officeDocument/2006/relationships/notesSlide" Target="/ppt/notesSlides/notesSlide11.xml" Id="R3f7cbdf2ed3544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e59de2cbb4b4f" /><Relationship Type="http://schemas.openxmlformats.org/officeDocument/2006/relationships/image" Target="/ppt/media/image4.png" Id="Rec631ee7357342f2" /><Relationship Type="http://schemas.openxmlformats.org/officeDocument/2006/relationships/notesSlide" Target="/ppt/notesSlides/notesSlide12.xml" Id="Ra1cc518f468b4eb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08142360984e8a" /><Relationship Type="http://schemas.openxmlformats.org/officeDocument/2006/relationships/image" Target="/ppt/media/image5.png" Id="R9465da3daebb4019" /><Relationship Type="http://schemas.openxmlformats.org/officeDocument/2006/relationships/notesSlide" Target="/ppt/notesSlides/notesSlide13.xml" Id="R21d42e03cadf4e6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10da76500d4b5c" /><Relationship Type="http://schemas.openxmlformats.org/officeDocument/2006/relationships/image" Target="/ppt/media/image6.png" Id="Rc946ed604dfa4710" /><Relationship Type="http://schemas.openxmlformats.org/officeDocument/2006/relationships/notesSlide" Target="/ppt/notesSlides/notesSlide14.xml" Id="R1be50e67ac1d460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53801e46286466c" /><Relationship Type="http://schemas.openxmlformats.org/officeDocument/2006/relationships/notesSlide" Target="/ppt/notesSlides/notesSlide15.xml" Id="R149b27e37688423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d33fc084ca419c" /><Relationship Type="http://schemas.openxmlformats.org/officeDocument/2006/relationships/notesSlide" Target="/ppt/notesSlides/notesSlide16.xml" Id="Rc725796700704de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b30322d2e947a7" /><Relationship Type="http://schemas.openxmlformats.org/officeDocument/2006/relationships/notesSlide" Target="/ppt/notesSlides/notesSlide17.xml" Id="R07f3b8372b2f429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2DAF4E2-6B75-4498-AD7D-2B42BB124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2017206-FDFF-4B0D-A667-51DFEFB5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6AAED3-9566-4057-9117-DD3CADEF5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BD9359-A37A-44CD-A440-FB338891C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57200"/>
            <a:ext cx="3429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21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26390-112C-40AF-A7CD-9290D7124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295400"/>
            <a:ext cx="910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56590D-F233-4326-8183-3D9F22A34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924550"/>
            <a:ext cx="10420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7cdcc386f34702"/>
          <a:stretch xmlns:a="http://schemas.openxmlformats.org/drawingml/2006/main"/>
        </p:blipFill>
        <p:spPr>
          <a:xfrm xmlns:a="http://schemas.openxmlformats.org/drawingml/2006/main">
            <a:off x="10093459" y="438150"/>
            <a:ext cx="615681" cy="7810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38D6CF-F406-4E97-A4CD-B30B4E52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914400"/>
            <a:ext cx="6858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Universidade Estadual de Santa Cruz - UESC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0342CD-9F7B-4C73-B851-111BE7D9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71700"/>
            <a:ext cx="9944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SISTEMA DE INVENTÁRIO BASEADO EM TECNOLOGIA RFID PARA O COLEGIADO DE CIÊNCIA DA COMPUTAÇÃO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532062-1E1D-458B-81EA-309874B42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095750"/>
            <a:ext cx="5334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Ezequiel Lobo Oliveira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D99510-45EB-4339-BD8E-1C1B60135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762500"/>
            <a:ext cx="628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Orientador: Jorge Lima de Oliveira Filho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9A3EC-8C7E-4435-89ED-9C35D669B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153150"/>
            <a:ext cx="4476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Bacharelado em Ciência da Computação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0D84E4-B150-4BFE-99BC-83980CDC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6153150"/>
            <a:ext cx="238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Ilhéus - Bahia, 2026</a:t>
            </a:r>
          </a:p>
        </p:txBody>
      </p:sp>
    </p:spTree>
    <p:extLst>
      <p:ext uri="{BB962C8B-B14F-4D97-AF65-F5344CB8AC3E}">
        <p14:creationId xmlns:p14="http://schemas.microsoft.com/office/powerpoint/2010/main" val="132206846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4CFEA7-13D9-4F68-97DE-4ADC5FF3F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0A88E9A-1856-4F34-B5E5-FF819FA37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99673-122A-46A1-A6E6-5562CF22F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B95CA7-F5A3-422A-B909-F9AA47507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Problema: inventário manual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D2E473-5AD3-48EF-AD14-65627C9DE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dificuldade central é manter o registro do sistema alinhado com a localização real dos bens.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487CF7-7835-4C91-AD5F-71D89F582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BDDBE9-AE7F-42A8-9E1E-43778145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Equipamentos circulam entre laboratórios, salas e espaços compartilhados.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1DD6EA-FFAB-4E28-8B1A-90268320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532502-BF80-42E4-B6F6-88C2BA0D5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conferência visual exige tempo e atualização constante dos registros.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E26BDA-4D14-42AF-87A0-1BC531519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737F9F-835F-4559-870D-8D277DAD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Quando o registro não acompanha o bem físico, surgem divergências de localização.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77B27E-DE7A-4AD0-9283-10F72099E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53CBE9-63AF-4736-BE5D-8E8B79565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Inventário lógico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D447F1-C039-4718-AEB6-1E7D50DF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registro esperado no sistema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512B17-5016-4298-9AEC-C0F77EF7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20B8819-0A1A-4B63-BC02-E3CBD807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Inventário físico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AFF0DB-377D-4AC8-8B55-225D901D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situação observada no ambiente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ACF8F1-9308-466B-94AF-1AADB91D9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5B155E-DFE5-446B-B3BF-0F0BE96D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Inconsistência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300EFB-4ECF-4A4E-A16C-5C7164822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diferença a ser tratada pela auditoria</a:t>
            </a:r>
          </a:p>
        </p:txBody>
      </p:sp>
    </p:spTree>
    <p:extLst>
      <p:ext uri="{BB962C8B-B14F-4D97-AF65-F5344CB8AC3E}">
        <p14:creationId xmlns:p14="http://schemas.microsoft.com/office/powerpoint/2010/main" val="1167306775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217F0C-6D4F-4E7D-AAC7-3984F5C0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F2425-79A7-44AA-813E-AFCB7F751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38122-8D08-4983-9B1E-74582C166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DBFAC7-64BC-4543-9770-4326E5094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Proposta: RFID integrado ao sistema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E9550D-2F1F-4D92-9807-E0E7C8EC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leitura RFID conecta a conferência física ao registro digital, reduzindo dependência de verificação visual.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5CAB6A-6EDF-439C-A17A-CD4722E86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D887DD-9A63-4BB2-AD1A-4B94EACF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Cada bem recebe uma tag associada ao cadastro patrimonial.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5601A6-A753-433F-AF9D-56459F852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27CFDB-E91A-4D56-94FC-F9A342FA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Quando a tag é lida, o sistema identifica qual bem foi encontrado.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C76C85-05AF-4413-9E88-213829279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607BEC-B23B-4CA9-8313-30615AA7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leitura ajuda a conferir se o bem está no local esperado.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C23E9D-D439-4355-A4D1-0D6F1CE4B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F87822-25E9-4064-A68C-46EDFD22F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Identificação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FCF72F-67B6-4CD1-B323-582304F3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vínculo entre bem físico e registro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20051C-073F-4B86-A8A2-D722BF3F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11B5EF-1535-4027-BF16-49FFDD771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Rastreabilidade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86EF1C-CDCC-43C1-BD0B-0A30C136A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histórico do que foi lido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0FFEF25-AC03-4521-BB92-97AC1009B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21365-17CC-4ABF-884C-141037BC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Delimitação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963415-C0CA-4073-891D-2AA4A6225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validação física sem extrapolar alcance</a:t>
            </a:r>
          </a:p>
        </p:txBody>
      </p:sp>
    </p:spTree>
    <p:extLst>
      <p:ext uri="{BB962C8B-B14F-4D97-AF65-F5344CB8AC3E}">
        <p14:creationId xmlns:p14="http://schemas.microsoft.com/office/powerpoint/2010/main" val="60566563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221C8B-7EEB-4EC3-806B-B314FA0C8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4631F2-3FD2-4900-836A-26BAF47C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C6734-8D3F-4101-93DE-83EAA03F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9D912-F902-4238-B5D6-B51B84181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Objetivos do trabalho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831B6-5FEB-4B8C-90A9-3F64F7C61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trabalho busca construir e verificar um protótipo capaz de apoiar a conferência patrimonial.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793DCE-1879-44EB-8B3F-7B2CE736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0385DD-7B64-4E22-B048-C8125FC2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Organizar os cadastros de bens, locais e leitores RFID.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69E583-12F4-41B7-B077-FDF9AD0A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16E2BA-BB33-4894-995D-38BCC5450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Usar as leituras para apoiar a conferência da localização dos bens.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2F5B30-761A-4BA4-9411-9F84CE867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63F9AE-D99D-4790-B7CA-05F0D20B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Testar se o caminho da leitura até o registro no sistema funciona corretamente.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A9EECB-1434-4578-96AA-8879F5C3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33240E-68E4-4EA5-9DD5-0DBD5136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765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Sistema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F21A5E-5813-446D-928A-3CB132855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38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registro centralizado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8AF17-4496-438F-91D3-3A82283E5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EF70C3-39CC-40D0-A56F-A6D1FEFDC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433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1F836CA-176F-4571-B3D0-275F128D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05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identificação física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490FE9D-BB49-4D49-8DE7-7DD5BDD74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148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FA5ADB1-6C56-4DF6-AC61-3F2E2814A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101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Auditoria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13691A7-2572-454A-9D1B-076B4230A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720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comparação com o local esperado</a:t>
            </a:r>
          </a:p>
        </p:txBody>
      </p:sp>
    </p:spTree>
    <p:extLst>
      <p:ext uri="{BB962C8B-B14F-4D97-AF65-F5344CB8AC3E}">
        <p14:creationId xmlns:p14="http://schemas.microsoft.com/office/powerpoint/2010/main" val="12134257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E3624C8-F72C-4548-A78C-042B4914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CBB196-4463-4313-9526-7A18799FD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44C028-0270-4F78-86BD-89EAF219B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54ADC2-C7AD-4816-8589-8BAF86F6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Base teórica e diferencial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5CF8C4-6697-497D-B06E-619D40218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revisão sustenta duas bases: identificação por RFID e integração das leituras com sistemas de informação.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2F6510-BDE5-4494-8D24-6305FE8CA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8022A8-6BE1-4F4C-84F3-0FEBC7533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RFID em inventário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D18E06-9AF8-47E5-B4C1-4C3B24B98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identificação automática de bens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943AB9-AD0D-49C6-8BEF-2AF144B9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625ACE-61AA-4A8D-9503-EB519EE1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Integração com sistemas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BE4DB5-0826-4124-9A41-AAEA74262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envio de leituras para processamento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8EDDF0-E035-4D5C-9529-ABF95B59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57500"/>
            <a:ext cx="2743200" cy="1695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F80AA7-6E47-4C54-8509-CB4F87A9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105150"/>
            <a:ext cx="22098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InventoryRFID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99EA2D-6ACC-4E3A-BD8D-26BD20F4F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619500"/>
            <a:ext cx="22098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entre local esperado e detectado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FB18F1-8189-43DE-AFC4-8DE1676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83820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Síntese: o diferencial do protótipo é usar a leitura RFID como evidência para auditoria patrimonial, não apenas como identificação.</a:t>
            </a:r>
          </a:p>
        </p:txBody>
      </p:sp>
    </p:spTree>
    <p:extLst>
      <p:ext uri="{BB962C8B-B14F-4D97-AF65-F5344CB8AC3E}">
        <p14:creationId xmlns:p14="http://schemas.microsoft.com/office/powerpoint/2010/main" val="149835376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993ECD7-94C5-494B-83F0-69233DDD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76B9AD-6F59-428C-9D83-0F1094E5D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E112B25-9571-418F-A1E1-F09B43AC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DAEE2D-CEF9-40F5-BB7A-18FC0FCC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Metodologia de desenvolvimento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F351DD-C325-450E-AB73-8AC2831CA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pesquisa foi conduzida em três momentos: entender o problema, construir o protótipo e testar o funcionamento.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2F497-3EB6-4DDF-AA3D-32A2D2239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6DF0C-E159-421B-AD37-37468A03A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6194A7-FE3D-497A-8608-0A3EF9BA9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A11FAA-ACFB-4731-9C53-D26B0C03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Entender o problema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B5472-295D-4FA4-8348-E856CE315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Levantamento sobre controle patrimonial, RFID e trabalhos relacionados.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0C9CD1-EE33-4727-BB66-5C04D2E1E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0AA435-79A8-4520-B236-48AF613B0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CEF51B-55B0-4002-BF83-D12518EF4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4C15B-249B-4569-B1B2-05576A2C8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Construir o protótipo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0E6FA9-0486-4305-9A7C-9CA30152D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Criação das telas, cadastros e regras para interpretar as leituras.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1CB08B-3C4E-48F6-99F0-2BA0D8AB8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14FDD0-1091-4642-9150-AEE2FDC6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A7EDEF-FF48-4069-BDAE-CCB563599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45D9AE-B36B-4479-ABD5-493CDADA9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Testar o funcionamento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B4649D-874B-45FC-B636-843B8F41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Cenários controlados com leitor de proximidade, tag e comunicador.</a:t>
            </a:r>
          </a:p>
        </p:txBody>
      </p:sp>
    </p:spTree>
    <p:extLst>
      <p:ext uri="{BB962C8B-B14F-4D97-AF65-F5344CB8AC3E}">
        <p14:creationId xmlns:p14="http://schemas.microsoft.com/office/powerpoint/2010/main" val="966990929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A3C3B0D-64EB-4EA3-82A6-D6BD91702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0297D7-65EC-48B1-AEA1-4444C15B0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7DF942F-70F9-4DE1-A404-2AB3BF46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6DAF9F-E617-4E92-BB8E-7DD269F9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Tecnologias utilizadas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712A3-307D-4647-80D4-3600CF585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protótipo combina tela web, servidor, banco de dados local e leitor RFID de proximidade.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FAD037-38CC-47CC-80ED-A779C917B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F5807-766D-4A72-8771-C3BEB52E0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Interface web para cadastro, consulta e acompanhamento.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965034-E8C1-4C8F-BFD8-1DF0B0FE5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85B9D5-564E-43A7-A1E9-065DC4573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Servidor para receber leituras, aplicar regras e registrar resultados.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8F28D6-D2EA-48B9-9E4E-9835C218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AAB19B5-0DBB-4A28-B2D4-3DC03EC5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Banco local para armazenar bens, locais, leituras, auditorias e inconsistências.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787152-0938-4B8A-84C5-087E8576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292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5C3161-74A2-4208-9F96-E0CB4261B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9530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RFID, tag física e comunicador para envio da leitura.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4051ED-8A3B-47A4-B9E4-3680029BF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56A4B4-0D44-480E-BCB7-83B6A9F9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4765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Interface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DF3BE4-CFC7-4F60-BB26-D1A7BA60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8384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operação do usuário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82036A-3B94-46A9-B2DE-0F0646A68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4480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7316F5-4581-442F-9D2B-BACF6AD2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433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Servidor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E98B78-0538-46FF-AE36-012492618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9052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regras do sistema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BA3F2A-0161-4671-82BE-1D446BF8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514850"/>
            <a:ext cx="3886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5CE97B-4546-4B47-8A85-2C13B21E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10100"/>
            <a:ext cx="161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Banco local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9C4EC1B-B970-44B6-82A1-F02D2192D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972050"/>
            <a:ext cx="3238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registros</a:t>
            </a:r>
          </a:p>
        </p:txBody>
      </p:sp>
    </p:spTree>
    <p:extLst>
      <p:ext uri="{BB962C8B-B14F-4D97-AF65-F5344CB8AC3E}">
        <p14:creationId xmlns:p14="http://schemas.microsoft.com/office/powerpoint/2010/main" val="88068624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3F33C08-A864-4B30-A3C0-E678CB6C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B0D7F8-208D-4399-AE94-2D70CE2FA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E1485C-A788-42EC-80C4-C80065E7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7B9808-A489-47ED-89BC-6DEFEB2F8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Arquitetura do protótipo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E54C8A-2490-4002-A02A-F5721068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arquitetura mostra onde a leitura entra, onde as regras são aplicadas e onde os registros ficam armazenados.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1C1300-F6A2-4B0A-A553-3A4D05EE4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3d251f8db84c3e"/>
          <a:stretch xmlns:a="http://schemas.openxmlformats.org/drawingml/2006/main"/>
        </p:blipFill>
        <p:spPr>
          <a:xfrm xmlns:a="http://schemas.openxmlformats.org/drawingml/2006/main">
            <a:off x="3720757" y="2209800"/>
            <a:ext cx="4769536" cy="3371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685388-A32E-49B1-ABB1-20A2A245B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Separação entre interface, servidor, banco local e entrada de leituras RFID.</a:t>
            </a:r>
          </a:p>
        </p:txBody>
      </p:sp>
    </p:spTree>
    <p:extLst>
      <p:ext uri="{BB962C8B-B14F-4D97-AF65-F5344CB8AC3E}">
        <p14:creationId xmlns:p14="http://schemas.microsoft.com/office/powerpoint/2010/main" val="103459491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B05D422-B61B-44C9-BBEF-348EFC160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BAA6D-36BC-4835-BCD0-02EEAE367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4D2AD-27A2-4ECB-B822-2722F6107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F304C8-227F-4750-91E7-ACF0FE75B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Modelagem funcional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6AC74C-6173-44A8-9E4D-5AC0FDCAE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modelagem liga os requisitos do trabalho às ações que o protótipo precisa executar.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7E630C-35BC-493E-A2B2-04D69474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6292aca12848d2"/>
          <a:stretch xmlns:a="http://schemas.openxmlformats.org/drawingml/2006/main"/>
        </p:blipFill>
        <p:spPr>
          <a:xfrm xmlns:a="http://schemas.openxmlformats.org/drawingml/2006/main">
            <a:off x="3588091" y="2209800"/>
            <a:ext cx="5034868" cy="3371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5D4F38-572B-497A-B662-9229E295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Principais ações do usuário e dos componentes envolvidos em cadastros, auditoria e leituras RFID.</a:t>
            </a:r>
          </a:p>
        </p:txBody>
      </p:sp>
    </p:spTree>
    <p:extLst>
      <p:ext uri="{BB962C8B-B14F-4D97-AF65-F5344CB8AC3E}">
        <p14:creationId xmlns:p14="http://schemas.microsoft.com/office/powerpoint/2010/main" val="1823852745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90840E7-40F0-4EB3-B394-9F9A413C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8B040F-24B4-4FF5-AC75-1C289855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48FCFF-9DAE-4E44-A166-0227348A0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8CD39B-7FC6-4390-AB26-B2B9F172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Fluxo de leitura RFID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D92D5A-54FA-4253-88FE-B9F3CD82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fluxo mostra o caminho percorrido desde a leitura da tag até a comparação com o local esperado.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880ABB-9D5D-4AF9-9A6E-E2251873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5B8105-C976-47D1-AC0D-E636806E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F03FE-8D99-49A8-93B5-A397BB307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3365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Caminho testado com hardware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C55E6D-35A4-4A2B-87EA-1A0612F2D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00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6B09C3-882C-4F81-8E01-CE0BE8C1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2385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04E2A5-7D14-438A-B456-49DFEF4F2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2194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de proximidade capta a tag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0851EC-006C-429B-870A-880EF3592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57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9672D2-B187-4F12-81C5-51AB6A4B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A9A1F7-9492-44EF-9013-63995C8E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766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Comunicador envia a leitura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2EDEC3-4BD6-48DA-B949-8AD0BEC4D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552772-E3DC-4532-ACDA-89F4B1B0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52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885096-26C6-4020-A5B1-133FD8A52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1338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Sistema recebe o código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330FB5-7C0C-43B2-8047-55CA1985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412B4D-55BD-4A08-9A42-D699B1D1D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6101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567A66-0CEF-4A4E-B286-8042299C5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compara o local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8270E54-3C28-4D2A-8398-1717DAAB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244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1CBDEDD-8A7C-43B6-A126-C645CB9CC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3875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Comprovado com leitor de proximidade, uma tag e envio da leitura ao sistema.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BF8441-FDA5-4861-9A5E-925A1FC67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9530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09DEBAA-6CA9-4DB6-B734-9D2AC637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953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EA466E-1BD4-4A84-8D49-FFDABD6E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33650"/>
            <a:ext cx="44958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Caminho previsto para expansão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94980DD-E7A9-4FB4-ACA4-C86686E87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00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3CC1286-4B4A-468A-81AB-7BE1DBFCE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385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06BCA0-8828-42E6-B75A-49F6B29A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2194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Sensor ou gateway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FBE427C-3C25-497E-AC49-A04021259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576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F457E3-1CA4-4F69-8AAA-8C41F3FCB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6957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004ABD-BE41-4447-A202-C377FE375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6766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Sistema inicia leitura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ABE5CE-0243-491E-9F72-9F47361B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14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E862A89-E9F0-4674-927B-9F25CB0DE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1529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175CCA-2A69-4071-BB2C-46E69FEDF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338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registra tags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2BFB6A-A8DB-4795-B52C-EFF9A89DF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5720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4CF"/>
          </a:solidFill>
          <a:ln xmlns:a="http://schemas.openxmlformats.org/drawingml/2006/main" w="9525">
            <a:solidFill>
              <a:srgbClr val="D8A21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4522CF8-D5A4-4A88-8F98-F466597E3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10100"/>
            <a:ext cx="323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C52B13-C023-44C9-955A-CD195F17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91050"/>
            <a:ext cx="384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Leituras chegam ao sistema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C14E758-314B-449B-A71B-DB9E02F1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1244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E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9F62690-14F9-496F-9097-11F06F81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38750"/>
            <a:ext cx="44958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Indica uma evolução possível, sem afirmar validação física completa.</a:t>
            </a:r>
          </a:p>
        </p:txBody>
      </p:sp>
    </p:spTree>
    <p:extLst>
      <p:ext uri="{BB962C8B-B14F-4D97-AF65-F5344CB8AC3E}">
        <p14:creationId xmlns:p14="http://schemas.microsoft.com/office/powerpoint/2010/main" val="149003726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6EB7DC6-CFDD-4AC3-A6ED-2B86159E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D650BE-CA7B-4CD0-9572-12502EF14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9BF1EF-D588-4E33-B759-BAD6F590B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584C24-F6D3-4161-AF41-CA6BCE23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Processamento das leituras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AE1EA81-A711-4C2C-B68F-72E8B2F6E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Depois de receber uma leitura, o sistema identifica o bem e registra o resultado encontrado.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C5E591-E0DC-4A11-A171-222D94C26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07BB3-7858-408C-B3D5-6076EBBB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DAB8CB-AE0C-42A8-B92C-88C7567D9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6359B2-BE3A-455F-9EC2-CDEC51B00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Receber a leitura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0BAADA-CDBA-418A-96F4-E20E506F5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sistema recebe o código lido pelo equipamento RFID.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CC9A4-1DF2-4128-A0BB-302D90AF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CCE65-A807-4579-B2A0-0F6680C91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AF34D5-5F5E-4A18-BE9A-F792C767E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5D8A65-651B-4000-AA9A-A51148C52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Verificar o bem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AB5573-D4F4-4A2D-AE0A-6904A5ACB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leitura é conferida para saber se corresponde a um item cadastrado.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14BBDA-51B3-4CB1-B49B-B23374BE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609850"/>
            <a:ext cx="2971800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B80AD6-5DD8-4849-8116-FB4242CA5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28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4EE"/>
          </a:solidFill>
          <a:ln xmlns:a="http://schemas.openxmlformats.org/drawingml/2006/main" w="9525">
            <a:solidFill>
              <a:srgbClr val="0E7A4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E7B8E8-CFD8-4DB5-9AB2-7AC8C68B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86100"/>
            <a:ext cx="3238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840EE6-0168-4CCA-A706-95D76B56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971800"/>
            <a:ext cx="1885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Registrar resultado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80A5DA-5788-4DFB-9B8B-39E84211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10000"/>
            <a:ext cx="238125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sistema atualiza o histórico ou aponta uma inconsistência.</a:t>
            </a:r>
          </a:p>
        </p:txBody>
      </p:sp>
    </p:spTree>
    <p:extLst>
      <p:ext uri="{BB962C8B-B14F-4D97-AF65-F5344CB8AC3E}">
        <p14:creationId xmlns:p14="http://schemas.microsoft.com/office/powerpoint/2010/main" val="101703272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8A1374-DC1C-488D-8CC3-F2217FA8C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3F2E4-22C6-4A09-96C9-E605DB90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6E54A4-F9DA-44EF-B61E-0D3BC933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4005F4-5F6C-4A5A-AECA-F46A57CBA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Interface de acompanhamento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332CD-147C-4AA5-A4C1-88AAC11D1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tela inicial reúne informações para acompanhar a situação geral do inventário e das pendências.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2003BE-C6A3-4F5D-BB3A-A9A770DA5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631ee7357342f2"/>
          <a:stretch xmlns:a="http://schemas.openxmlformats.org/drawingml/2006/main"/>
        </p:blipFill>
        <p:spPr>
          <a:xfrm xmlns:a="http://schemas.openxmlformats.org/drawingml/2006/main">
            <a:off x="2065380" y="2209800"/>
            <a:ext cx="8080289" cy="33718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D6EF8E-7F99-4444-B8E8-D3E291C6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Recorte do painel com indicadores, leitores e inconsistências recentes.</a:t>
            </a:r>
          </a:p>
        </p:txBody>
      </p:sp>
    </p:spTree>
    <p:extLst>
      <p:ext uri="{BB962C8B-B14F-4D97-AF65-F5344CB8AC3E}">
        <p14:creationId xmlns:p14="http://schemas.microsoft.com/office/powerpoint/2010/main" val="1401814126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5F6B66E-7290-42C5-9E89-A41F0FF0D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0B6056-E6EC-45A5-A14C-66316D908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45A16B-9C6A-4211-BAC3-EF648779E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2080D6-4ACB-4F65-8864-F2C09713D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Auditoria patrimonial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F36620-026D-46D2-9E52-6380BA0FD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 auditoria é o ponto em que o sistema compara o que foi detectado com o que era esperado.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B06BD-9CA4-4FA4-BA42-D4460DBDF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65da3daebb4019"/>
          <a:stretch xmlns:a="http://schemas.openxmlformats.org/drawingml/2006/main"/>
        </p:blipFill>
        <p:spPr>
          <a:xfrm xmlns:a="http://schemas.openxmlformats.org/drawingml/2006/main">
            <a:off x="952500" y="2861141"/>
            <a:ext cx="10306050" cy="206916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051B6-5312-480D-B70E-5F6BAAC20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Recorte da auditoria com esperados, lidos, ausentes, divergentes e desconhecidos.</a:t>
            </a:r>
          </a:p>
        </p:txBody>
      </p:sp>
    </p:spTree>
    <p:extLst>
      <p:ext uri="{BB962C8B-B14F-4D97-AF65-F5344CB8AC3E}">
        <p14:creationId xmlns:p14="http://schemas.microsoft.com/office/powerpoint/2010/main" val="1767194635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86E27E4-F17A-4339-AF81-059B22F86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2EF64E-2665-4D8C-9F96-138D858A4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1FD62F-EED1-4BD4-BEB3-A61F548D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453561-C325-41D3-9A60-F57BB8DD7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Tratamento de inconsistências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851469-25D1-4499-92E3-E626A2673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As inconsistências indicam diferenças entre o local esperado e o local detectado na auditoria.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39903A-736B-4EA0-85B8-BED03705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76450"/>
            <a:ext cx="10572750" cy="3638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46ed604dfa4710"/>
          <a:stretch xmlns:a="http://schemas.openxmlformats.org/drawingml/2006/main"/>
        </p:blipFill>
        <p:spPr>
          <a:xfrm xmlns:a="http://schemas.openxmlformats.org/drawingml/2006/main">
            <a:off x="952500" y="3171516"/>
            <a:ext cx="10306050" cy="1448418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E740A3-F818-4FE4-B809-6E010609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867400"/>
            <a:ext cx="102870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Recorte das pendências abertas após auditoria, com totalizadores por situação.</a:t>
            </a:r>
          </a:p>
        </p:txBody>
      </p:sp>
    </p:spTree>
    <p:extLst>
      <p:ext uri="{BB962C8B-B14F-4D97-AF65-F5344CB8AC3E}">
        <p14:creationId xmlns:p14="http://schemas.microsoft.com/office/powerpoint/2010/main" val="1147700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2E63092-4DEB-4115-ABA5-3E621800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725AF25-AFBC-4F26-B196-7A38871E7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F0808E-9083-48B6-A16F-0A1478C24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854E6C-9C60-422F-BB6F-8B0EF32FB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Resultados da validação funcional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EF1F00-2355-4891-9A0B-1A2F8468C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Cada cenário foi repetido seis vezes para confirmar o comportamento funcional, sem caráter estatístico.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7F4A2A-6F35-46F2-BACE-DCE6F8C5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190750"/>
            <a:ext cx="3143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B08F030-8509-4BDC-B700-26F3051A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66950"/>
            <a:ext cx="2876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Cenário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223242-6F6C-42EC-B5EF-9CBC5D58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190750"/>
            <a:ext cx="123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8642AE-FAA8-4661-A4D5-F11311965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266950"/>
            <a:ext cx="971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Execuções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AFC503-AA47-4F61-B473-101D2C7C8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90750"/>
            <a:ext cx="619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5D3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0D5247-76CE-4E98-BCAE-D952CC83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266950"/>
            <a:ext cx="59245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D1E18F7-E498-4496-A435-EC5D8414A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5908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9375100-F93A-4D17-B05A-E59DF2DC8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670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 conhecida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D7D3DF-5344-47A7-A8A0-EC80C41D9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5908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F83352-23AE-4D93-A197-B08FD89A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667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039C3B-1BBB-40BF-BF3F-E7C757F0C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908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33D401-C88B-4477-9A20-E2972A7B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6670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item detectado e itens ausentes classificados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E266764-BADF-46DA-B05F-3E3AA2E87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242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F475C7-1EEB-4F83-9EA4-FF6B9715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Correção de pendência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8BE57-B113-448F-BBFB-6E7F4141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1242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73EE8E-A0FA-427D-B38D-C54D2116B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2004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FE423F-3A53-45C9-96A1-AF60C9F1A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242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890F3E-3940-4A9D-AC26-94465EE63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2004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encerrado com registro no histórico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702DA3-9B93-4F4E-A470-29D4D5F1F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D537CC-ED33-4CF0-8339-F14456DEB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Tag desconhecida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657CABD-0B12-47C4-8F5C-52A5D0EBD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6576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7E481A7-3C20-4524-9903-C1B52CDEE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37338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58728A-2AE4-4BAB-9015-BF782B43C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576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675705-E525-434F-97D2-9BFD8E07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7338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problema registrado para análise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799EA7-D451-43D0-A2AC-1683ECC55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5D064A-3D5F-43C9-B02C-086DF76F2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Local divergente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7C9D5DB-8CF6-4432-B45D-3E46270B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1910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BB8E74-F53B-4D18-A6DA-F4C899B6C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2672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B9518B-1859-4E17-9A93-17278E90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910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F8F6739-ACC4-41E9-8E1E-7A3AB773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2672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bem marcado fora do local esperado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2C19DCC-A2CC-4053-9956-24A211A0C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244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761941-72BB-4BF2-A7F9-007FC1283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006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Leitura repetida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E7C376E-9E7C-491C-B457-5695051B7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47244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AF8DA01-6AC8-4F7B-BC52-6A6783A26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8006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CA33AE5-962D-4759-8ABC-9B408E6D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7244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8502D79-1449-4A43-8003-5622EC29B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8006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repetições tratadas sem duplicar o resultado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1C7AAC-26AE-4059-809E-FEC9A0CEB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3143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0150C73-3AB5-4E72-826C-F40DC0B3F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34000"/>
            <a:ext cx="2876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Leitor sem resposta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1048F62-3560-4EE1-BE9A-714B9172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257800"/>
            <a:ext cx="1238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CD10EA8-85E4-46F4-B806-C6BB8B90D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5334000"/>
            <a:ext cx="971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6/6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3B6AC7B-1705-4906-85B2-87AFB7B88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5257800"/>
            <a:ext cx="61912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F5F2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3D0FA4C-960D-4387-A81A-DE13E26C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334000"/>
            <a:ext cx="59245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falha sinalizada para o usuário</a:t>
            </a:r>
          </a:p>
        </p:txBody>
      </p:sp>
    </p:spTree>
    <p:extLst>
      <p:ext uri="{BB962C8B-B14F-4D97-AF65-F5344CB8AC3E}">
        <p14:creationId xmlns:p14="http://schemas.microsoft.com/office/powerpoint/2010/main" val="183860518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CE3708F-2B22-44E3-8029-F8890B4B7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F176E3-E6BE-498C-B309-0A2B9EBEC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A54FD5-D742-40AB-9A34-57F9A86B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E95CEF-01F8-4013-AE15-45C32CCE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Contribuição funcional, limite físico claro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A4B4B71-EF3A-4ACB-B619-55B7147E3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00150"/>
            <a:ext cx="9334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O protótipo valida o fluxo de software e separa o que ainda depende de uma implantação física ampliada.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221B00-F0E6-4693-BB40-5253B6BC0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003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96D4FD-734F-4EBE-B9E7-C3D78967F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241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Eventos RFID são transformados em evidências para auditoria patrimonial.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D759BF-D1F6-4BE5-8DCF-ADF49B306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766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6CE96A-2BF9-422C-9C12-0E4877A06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004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 validação confirmou regras do software em cenário controlado, incluindo o registro de inconsistências.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105BDE-4BF5-40F3-A9AB-B223D5BA7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152900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A12F8D-FA4B-471E-AE10-6CE3E7B1E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76700"/>
            <a:ext cx="49530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Não foi validada uma instalação real com múltiplos leitores físicos por ambiente.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8A4E362-4D37-4FCD-9605-32C76C57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4003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405515-CABE-4DB0-A353-B09D7191D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5050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Contribuição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BCC131-0A89-418E-95EA-78780DED3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098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comparação entre inventário esperado e leitura detectada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DF6CBA-099A-4FF1-9891-6F8F37C41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909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45FCF7-87E6-4103-A045-D38FF8F95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4956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Limite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0B16CB-F701-42CD-A290-B16325CE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004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leitor de proximidade, uma tag e cenários controlados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E75F7D-AFF8-40BE-8C92-C951C23FF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381500"/>
            <a:ext cx="40005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FD7851-50EE-4A78-9DFD-20BAF5653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486275"/>
            <a:ext cx="3429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75D3B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075D3B"/>
                </a:solidFill>
                <a:latin typeface="Arial"/>
                <a:ea typeface="Arial"/>
                <a:cs typeface="Arial"/>
              </a:rPr>
              <a:t>Futuro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B0B4DF-3933-4724-AD5A-C11F5540E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791075"/>
            <a:ext cx="3333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múltiplos leitores físicos, sensores, antenas e mais tags</a:t>
            </a:r>
          </a:p>
        </p:txBody>
      </p:sp>
    </p:spTree>
    <p:extLst>
      <p:ext uri="{BB962C8B-B14F-4D97-AF65-F5344CB8AC3E}">
        <p14:creationId xmlns:p14="http://schemas.microsoft.com/office/powerpoint/2010/main" val="1275217618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08E781B-B35A-4D68-BB4B-0D12925D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9F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A9B004-A220-4A27-B03B-B544074DB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2DC52-A0F5-4815-8471-9E1BAB2BA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191250"/>
            <a:ext cx="4191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350" b="0">
                <a:solidFill>
                  <a:srgbClr val="51606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1606F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38FC8F-7C08-4B5F-833C-3480953A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10287000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2775" b="1">
                <a:solidFill>
                  <a:srgbClr val="17202A"/>
                </a:solidFill>
                <a:latin typeface="Arial"/>
                <a:ea typeface="Arial"/>
                <a:cs typeface="Arial"/>
              </a:rPr>
              <a:t>Referências principais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D34F92-DFC6-47B2-A978-A1FF9325D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907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9D74A1-2BE4-45DA-978E-149FEED4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ALWADI et al. RFID smart inventory management system: A survey.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829511-F243-455F-BB8C-9EB6ADDF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E8B3E5-CA2D-440E-BA18-1AA9C72E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ABIJÁUDE et al. Plataforma InventoryIoT para inventário automatizado.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99B311-F00B-484F-B7D5-8E37B0D6E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94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7C63F5-1803-4662-88D9-B6F671B45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432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BRITO et al. Etiquetas inteligentes na gestão patrimonial pública.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E769A5E-E983-4E85-8849-B2A4695B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338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DA1F824-C95C-4161-857C-487865DEE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576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MASHAYEKHY et al. Impact of Internet of Things on inventory management.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00467A-D91C-4D19-B007-7C34AB55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81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72192B-6EF1-408E-9465-EFF8D9A83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719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TING et al. A framework for RFID implementation in inventory management.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FAF7DE-1BD1-4B7A-847D-4A522CA64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537DB6-77AB-4673-8239-DA58A71C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8630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KNAPP; WANG. Interference in RFID installations.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D5AA4C-6B96-44A1-BE99-7E603841E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768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E7A4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B82F55-8A1E-42C8-864C-06E3B2F5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00650"/>
            <a:ext cx="9525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7202A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17202A"/>
                </a:solidFill>
                <a:latin typeface="Arial"/>
                <a:ea typeface="Arial"/>
                <a:cs typeface="Arial"/>
              </a:rPr>
              <a:t>Tribunal de Contas do Estado da Bahia. Orientações para controle patrimonial.</a:t>
            </a:r>
          </a:p>
        </p:txBody>
      </p:sp>
    </p:spTree>
    <p:extLst>
      <p:ext uri="{BB962C8B-B14F-4D97-AF65-F5344CB8AC3E}">
        <p14:creationId xmlns:p14="http://schemas.microsoft.com/office/powerpoint/2010/main" val="1702572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2026-06-25T19:28:35.8780000Z</dcterms:created>
  <dcterms:modified xsi:type="dcterms:W3CDTF">2026-06-25T19:28:35.8780000Z</dcterms:modified>
</coreProperties>
</file>